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2e89c20684daf" /><Relationship Type="http://schemas.openxmlformats.org/officeDocument/2006/relationships/extended-properties" Target="/docProps/app.xml" Id="Reac5a0eac71740d5" /><Relationship Type="http://schemas.openxmlformats.org/officeDocument/2006/relationships/officeDocument" Target="/ppt/presentation.xml" Id="R0f73a858937c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05aaf6ceb4823"/>
  </p:sldMasterIdLst>
  <p:notesMasterIdLst>
    <p:notesMasterId xmlns:r="http://schemas.openxmlformats.org/officeDocument/2006/relationships" r:id="Rf28791f873b24471"/>
  </p:notesMasterIdLst>
  <p:sldIdLst>
    <p:sldId xmlns:r="http://schemas.openxmlformats.org/officeDocument/2006/relationships" id="256" r:id="R21c90e02cce6415b"/>
    <p:sldId xmlns:r="http://schemas.openxmlformats.org/officeDocument/2006/relationships" id="257" r:id="R48a4f176ebb4471b"/>
    <p:sldId xmlns:r="http://schemas.openxmlformats.org/officeDocument/2006/relationships" id="258" r:id="R38146963ba48462e"/>
    <p:sldId xmlns:r="http://schemas.openxmlformats.org/officeDocument/2006/relationships" id="259" r:id="Re724d1f30a114f20"/>
    <p:sldId xmlns:r="http://schemas.openxmlformats.org/officeDocument/2006/relationships" id="260" r:id="R79a484f3fe59460f"/>
    <p:sldId xmlns:r="http://schemas.openxmlformats.org/officeDocument/2006/relationships" id="261" r:id="R56ca84c05d9b41a3"/>
    <p:sldId xmlns:r="http://schemas.openxmlformats.org/officeDocument/2006/relationships" id="262" r:id="Rd67442678dc94bf8"/>
    <p:sldId xmlns:r="http://schemas.openxmlformats.org/officeDocument/2006/relationships" id="263" r:id="R4287c5fc58af46ef"/>
    <p:sldId xmlns:r="http://schemas.openxmlformats.org/officeDocument/2006/relationships" id="264" r:id="Ra326090dc11749b2"/>
    <p:sldId xmlns:r="http://schemas.openxmlformats.org/officeDocument/2006/relationships" id="265" r:id="R58dc669a4e74402d"/>
    <p:sldId xmlns:r="http://schemas.openxmlformats.org/officeDocument/2006/relationships" id="266" r:id="Rfb9d32b4bb304eed"/>
    <p:sldId xmlns:r="http://schemas.openxmlformats.org/officeDocument/2006/relationships" id="267" r:id="R2005a47100fc4d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56d81d001e44ab" /><Relationship Type="http://schemas.openxmlformats.org/officeDocument/2006/relationships/slideMaster" Target="/ppt/slideMasters/slideMaster1.xml" Id="Re5705aaf6ceb4823" /><Relationship Type="http://schemas.openxmlformats.org/officeDocument/2006/relationships/notesMaster" Target="/ppt/notesMasters/notesMaster1.xml" Id="Rf28791f873b24471" /><Relationship Type="http://schemas.openxmlformats.org/officeDocument/2006/relationships/presProps" Target="/ppt/presProps.xml" Id="R28ebb613efda4b10" /><Relationship Type="http://schemas.openxmlformats.org/officeDocument/2006/relationships/tableStyles" Target="/ppt/tableStyles.xml" Id="R7a7a1799d5b04caf" /><Relationship Type="http://schemas.openxmlformats.org/officeDocument/2006/relationships/slide" Target="/ppt/slides/slide1.xml" Id="R21c90e02cce6415b" /><Relationship Type="http://schemas.openxmlformats.org/officeDocument/2006/relationships/slide" Target="/ppt/slides/slide2.xml" Id="R48a4f176ebb4471b" /><Relationship Type="http://schemas.openxmlformats.org/officeDocument/2006/relationships/slide" Target="/ppt/slides/slide3.xml" Id="R38146963ba48462e" /><Relationship Type="http://schemas.openxmlformats.org/officeDocument/2006/relationships/slide" Target="/ppt/slides/slide4.xml" Id="Re724d1f30a114f20" /><Relationship Type="http://schemas.openxmlformats.org/officeDocument/2006/relationships/slide" Target="/ppt/slides/slide5.xml" Id="R79a484f3fe59460f" /><Relationship Type="http://schemas.openxmlformats.org/officeDocument/2006/relationships/slide" Target="/ppt/slides/slide6.xml" Id="R56ca84c05d9b41a3" /><Relationship Type="http://schemas.openxmlformats.org/officeDocument/2006/relationships/slide" Target="/ppt/slides/slide7.xml" Id="Rd67442678dc94bf8" /><Relationship Type="http://schemas.openxmlformats.org/officeDocument/2006/relationships/slide" Target="/ppt/slides/slide8.xml" Id="R4287c5fc58af46ef" /><Relationship Type="http://schemas.openxmlformats.org/officeDocument/2006/relationships/slide" Target="/ppt/slides/slide9.xml" Id="Ra326090dc11749b2" /><Relationship Type="http://schemas.openxmlformats.org/officeDocument/2006/relationships/slide" Target="/ppt/slides/slide10.xml" Id="R58dc669a4e74402d" /><Relationship Type="http://schemas.openxmlformats.org/officeDocument/2006/relationships/slide" Target="/ppt/slides/slide11.xml" Id="Rfb9d32b4bb304eed" /><Relationship Type="http://schemas.openxmlformats.org/officeDocument/2006/relationships/slide" Target="/ppt/slides/slide12.xml" Id="R2005a47100fc4d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5f7544036b45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4d650a7274af7" /><Relationship Type="http://schemas.openxmlformats.org/officeDocument/2006/relationships/notesMaster" Target="/ppt/notesMasters/notesMaster1.xml" Id="R34f5a2ee64a2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1057127e694c03" /><Relationship Type="http://schemas.openxmlformats.org/officeDocument/2006/relationships/notesMaster" Target="/ppt/notesMasters/notesMaster1.xml" Id="R80cffa1c0ba043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55fc7fd9cd4607" /><Relationship Type="http://schemas.openxmlformats.org/officeDocument/2006/relationships/notesMaster" Target="/ppt/notesMasters/notesMaster1.xml" Id="R8a8e37160ed247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3a4f7a38ba49f6" /><Relationship Type="http://schemas.openxmlformats.org/officeDocument/2006/relationships/notesMaster" Target="/ppt/notesMasters/notesMaster1.xml" Id="Raacf3618fa4d46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afaa49892d441c" /><Relationship Type="http://schemas.openxmlformats.org/officeDocument/2006/relationships/notesMaster" Target="/ppt/notesMasters/notesMaster1.xml" Id="R4581265f009a4d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a961434b30443f" /><Relationship Type="http://schemas.openxmlformats.org/officeDocument/2006/relationships/notesMaster" Target="/ppt/notesMasters/notesMaster1.xml" Id="Rdd38335e22bb46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70854b709d4231" /><Relationship Type="http://schemas.openxmlformats.org/officeDocument/2006/relationships/notesMaster" Target="/ppt/notesMasters/notesMaster1.xml" Id="Rbf46029c08474e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dfce43f6c04720" /><Relationship Type="http://schemas.openxmlformats.org/officeDocument/2006/relationships/notesMaster" Target="/ppt/notesMasters/notesMaster1.xml" Id="Rbc888b284bf240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55652f8d0e4bca" /><Relationship Type="http://schemas.openxmlformats.org/officeDocument/2006/relationships/notesMaster" Target="/ppt/notesMasters/notesMaster1.xml" Id="Rd42685528bb54c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147d5f9ad7445d" /><Relationship Type="http://schemas.openxmlformats.org/officeDocument/2006/relationships/notesMaster" Target="/ppt/notesMasters/notesMaster1.xml" Id="R87b78289a63a44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cb82322eec48ca" /><Relationship Type="http://schemas.openxmlformats.org/officeDocument/2006/relationships/notesMaster" Target="/ppt/notesMasters/notesMaster1.xml" Id="Rcb07b67e603f44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40f5a50bdc4058" /><Relationship Type="http://schemas.openxmlformats.org/officeDocument/2006/relationships/notesMaster" Target="/ppt/notesMasters/notesMaster1.xml" Id="R5f410e7f68fe45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62e744c6743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f5a2470e940ac" /><Relationship Type="http://schemas.openxmlformats.org/officeDocument/2006/relationships/slideLayout" Target="/ppt/slideLayouts/slideLayout1.xml" Id="Rb58716b861634f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8716b861634f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1be9d8b3f47d7" /><Relationship Type="http://schemas.openxmlformats.org/officeDocument/2006/relationships/notesSlide" Target="/ppt/notesSlides/notesSlide1.xml" Id="Re46a7c67909541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460ecdcd84526" /><Relationship Type="http://schemas.openxmlformats.org/officeDocument/2006/relationships/notesSlide" Target="/ppt/notesSlides/notesSlide2.xml" Id="R5789e663b76e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850e3731045f0" /><Relationship Type="http://schemas.openxmlformats.org/officeDocument/2006/relationships/notesSlide" Target="/ppt/notesSlides/notesSlide3.xml" Id="R96eb1ccdd9cc49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5fa2b0cc74d25" /><Relationship Type="http://schemas.openxmlformats.org/officeDocument/2006/relationships/notesSlide" Target="/ppt/notesSlides/notesSlide4.xml" Id="R41e3bf4699f844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74f5ac3fd4216" /><Relationship Type="http://schemas.openxmlformats.org/officeDocument/2006/relationships/notesSlide" Target="/ppt/notesSlides/notesSlide5.xml" Id="R27dce44dc93a48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a44224a724b66" /><Relationship Type="http://schemas.openxmlformats.org/officeDocument/2006/relationships/notesSlide" Target="/ppt/notesSlides/notesSlide6.xml" Id="R2250ede4d4ec46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08934c54e4d0e" /><Relationship Type="http://schemas.openxmlformats.org/officeDocument/2006/relationships/notesSlide" Target="/ppt/notesSlides/notesSlide7.xml" Id="Rcdd04c675adb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0483c5c6f4f23" /><Relationship Type="http://schemas.openxmlformats.org/officeDocument/2006/relationships/notesSlide" Target="/ppt/notesSlides/notesSlide8.xml" Id="R229cb9572fb643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4e02d9caf4165" /><Relationship Type="http://schemas.openxmlformats.org/officeDocument/2006/relationships/notesSlide" Target="/ppt/notesSlides/notesSlide9.xml" Id="Rc97dac5e9d5b49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5a9792e024469" /><Relationship Type="http://schemas.openxmlformats.org/officeDocument/2006/relationships/notesSlide" Target="/ppt/notesSlides/notesSlide10.xml" Id="Ra53b0a5fb99443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46230062d4a5d" /><Relationship Type="http://schemas.openxmlformats.org/officeDocument/2006/relationships/notesSlide" Target="/ppt/notesSlides/notesSlide11.xml" Id="Rd8d7c91c274646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904354b054cb0" /><Relationship Type="http://schemas.openxmlformats.org/officeDocument/2006/relationships/notesSlide" Target="/ppt/notesSlides/notesSlide12.xml" Id="R750369151ceb40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A5B36-A466-40EE-A653-53DC2E0C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35"/>
          </a:solidFill>
          <a:ln xmlns:a="http://schemas.openxmlformats.org/drawingml/2006/main" w="0">
            <a:solidFill>
              <a:srgbClr val="082F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D8EDE-DE99-40C0-9771-2C29CC23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6FF00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6FF00"/>
                </a:solidFill>
                <a:latin typeface="Aptos Display"/>
                <a:ea typeface="Aptos Display"/>
                <a:cs typeface="Aptos Display"/>
              </a:rPr>
              <a:t>Vamo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F8E2F-CC51-4143-BD2E-80213DE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Dependency and scale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B705A-D794-4E92-8508-157F4DF0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EE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EE9"/>
                </a:solidFill>
                <a:latin typeface="Aptos"/>
                <a:ea typeface="Aptos"/>
                <a:cs typeface="Aptos"/>
              </a:rPr>
              <a:t>What each provider does, what breaks if it fails, and how the stack grows from closed beta to a global business.</a:t>
            </a:r>
          </a:p>
        </p:txBody>
      </p:sp>
      <p:sp>
        <p:nvSpPr>
          <p:cNvPr id="5" name="base-case-106k-mau-4-4k-payers-by-m36">
            <a:extLst xmlns:a="http://schemas.openxmlformats.org/drawingml/2006/main">
              <a:ext uri="{FF2B5EF4-FFF2-40B4-BE49-F238E27FC236}">
                <a16:creationId xmlns:a16="http://schemas.microsoft.com/office/drawing/2014/main" id="{A3D8B2CD-C791-42D2-9836-8AF59DA3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667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 case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106k MAU / 4.4k payers by m36</a:t>
            </a:r>
          </a:p>
        </p:txBody>
      </p:sp>
      <p:sp>
        <p:nvSpPr>
          <p:cNvPr id="6" name="upside-900k-mau-52k-payers-by-m36">
            <a:extLst xmlns:a="http://schemas.openxmlformats.org/drawingml/2006/main">
              <a:ext uri="{FF2B5EF4-FFF2-40B4-BE49-F238E27FC236}">
                <a16:creationId xmlns:a16="http://schemas.microsoft.com/office/drawing/2014/main" id="{DE7BBEAA-A7F9-47FB-AF7F-D7B7E91F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00500"/>
            <a:ext cx="2857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FD1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Upside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900k MAU / 52k payers by m36</a:t>
            </a:r>
          </a:p>
        </p:txBody>
      </p:sp>
      <p:sp>
        <p:nvSpPr>
          <p:cNvPr id="7" name="current-posture-managed-stack-eu-first-offline-first">
            <a:extLst xmlns:a="http://schemas.openxmlformats.org/drawingml/2006/main">
              <a:ext uri="{FF2B5EF4-FFF2-40B4-BE49-F238E27FC236}">
                <a16:creationId xmlns:a16="http://schemas.microsoft.com/office/drawing/2014/main" id="{1A801CCC-DA47-4551-85F2-C1D2EB1B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3143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E9E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Current posture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managed stack, EU-first, offline-first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085E4-D6DB-48C7-8454-5E25383C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D5CF"/>
                </a:solidFill>
                <a:latin typeface="Aptos"/>
                <a:ea typeface="Aptos"/>
                <a:cs typeface="Aptos"/>
              </a:rPr>
              <a:t>Prepared from repo docs, Vamo business plan/model, and current provider pricing pages. June 20, 2026.</a:t>
            </a:r>
          </a:p>
        </p:txBody>
      </p:sp>
    </p:spTree>
    <p:extLst>
      <p:ext uri="{BB962C8B-B14F-4D97-AF65-F5344CB8AC3E}">
        <p14:creationId xmlns:p14="http://schemas.microsoft.com/office/powerpoint/2010/main" val="1232525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712C45FA-0962-4C93-8B26-A5A75A3E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541F7-7243-4DB3-9010-AADDBFCC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short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05518-059A-49C7-9690-14EF25FE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Current stack is right for beta and base-case; enterprise scale needs deliberate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3BA37-5372-4408-A961-890A959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10k-100k-mau-comfort-zone-with-current-architecture-plus-pro-basics">
            <a:extLst xmlns:a="http://schemas.openxmlformats.org/drawingml/2006/main">
              <a:ext uri="{FF2B5EF4-FFF2-40B4-BE49-F238E27FC236}">
                <a16:creationId xmlns:a16="http://schemas.microsoft.com/office/drawing/2014/main" id="{969954B8-CDA7-406F-A5A9-CE28D7A5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762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10k-100k MAU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Comfort zone with current architecture plus Pro basics</a:t>
            </a:r>
          </a:p>
        </p:txBody>
      </p:sp>
      <p:sp>
        <p:nvSpPr>
          <p:cNvPr id="6" name="100k-1m-mau-needs-compute-storage-email-analytics-read-scaling">
            <a:extLst xmlns:a="http://schemas.openxmlformats.org/drawingml/2006/main">
              <a:ext uri="{FF2B5EF4-FFF2-40B4-BE49-F238E27FC236}">
                <a16:creationId xmlns:a16="http://schemas.microsoft.com/office/drawing/2014/main" id="{55881654-8538-4085-AAB0-15D1D470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24000"/>
            <a:ext cx="2952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FD1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100k-1M MAU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Needs compute, storage, email, analytics, read scaling</a:t>
            </a:r>
          </a:p>
        </p:txBody>
      </p:sp>
      <p:sp>
        <p:nvSpPr>
          <p:cNvPr id="7" name="1m-mau-enterprise-plan-replicas-media-pipeline-dr-support-spend-ops">
            <a:extLst xmlns:a="http://schemas.openxmlformats.org/drawingml/2006/main">
              <a:ext uri="{FF2B5EF4-FFF2-40B4-BE49-F238E27FC236}">
                <a16:creationId xmlns:a16="http://schemas.microsoft.com/office/drawing/2014/main" id="{76C81197-493A-4FA8-BAD8-DCBD6C47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3333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E9E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1M+ MAU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Enterprise plan: replicas, media pipeline, DR, support, spend ops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91EFEF5D-19F5-4C6A-936A-8623D99F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162A6-EC85-43F4-B261-64A941A0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product is offline-first, so transient backend latency/outage is survivable for already-signed-in users.</a:t>
            </a:r>
          </a:p>
        </p:txBody>
      </p:sp>
      <p:sp>
        <p:nvSpPr>
          <p:cNvPr id="10" name="bullet-dot">
            <a:extLst xmlns:a="http://schemas.openxmlformats.org/drawingml/2006/main">
              <a:ext uri="{FF2B5EF4-FFF2-40B4-BE49-F238E27FC236}">
                <a16:creationId xmlns:a16="http://schemas.microsoft.com/office/drawing/2014/main" id="{03525BC5-7B5C-482D-9A7B-083769E7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18A83-7F2C-4F71-8B93-8D65510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is the main concentration risk: DB, auth, storage, realtime, and Edge Functions are all one vendor.</a:t>
            </a:r>
          </a:p>
        </p:txBody>
      </p:sp>
      <p:sp>
        <p:nvSpPr>
          <p:cNvPr id="12" name="bullet-dot">
            <a:extLst xmlns:a="http://schemas.openxmlformats.org/drawingml/2006/main">
              <a:ext uri="{FF2B5EF4-FFF2-40B4-BE49-F238E27FC236}">
                <a16:creationId xmlns:a16="http://schemas.microsoft.com/office/drawing/2014/main" id="{63890889-148B-4AC0-83E3-AAD70A5A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E6BCE-0A17-425D-AECA-913B5A5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Resend now turns email from single-provider Brevo risk into a primary/fallback path.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A11496EF-61BF-41B1-9D58-341B90D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4BCFD-4F0D-4F2C-B261-E4987C74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first expensive feature will not be bill splitting; it will be media: storage, egress, rendering, and recap generation.</a:t>
            </a:r>
          </a:p>
        </p:txBody>
      </p:sp>
      <p:sp>
        <p:nvSpPr>
          <p:cNvPr id="16" name="bullet-dot">
            <a:extLst xmlns:a="http://schemas.openxmlformats.org/drawingml/2006/main">
              <a:ext uri="{FF2B5EF4-FFF2-40B4-BE49-F238E27FC236}">
                <a16:creationId xmlns:a16="http://schemas.microsoft.com/office/drawing/2014/main" id="{8FEAF99A-E0D3-4E5E-A8AF-576F7FCF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A4151-5A69-4709-B37A-51AB2A7B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right scale path is staged: prove loops, measure cost per active trip, then buy capacity only where the data points.</a:t>
            </a:r>
          </a:p>
        </p:txBody>
      </p:sp>
    </p:spTree>
    <p:extLst>
      <p:ext uri="{BB962C8B-B14F-4D97-AF65-F5344CB8AC3E}">
        <p14:creationId xmlns:p14="http://schemas.microsoft.com/office/powerpoint/2010/main" val="2000161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6F0962D2-1812-479A-9E69-E3676DB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52310-98FE-45F0-AE62-D7DD7CA6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Current dependency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CAE56-89FF-422B-B5AE-EF879992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Editable architecture diagram - what talks to what.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84758-97C0-4599-BB7F-E68FF1A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users-android-testers">
            <a:extLst xmlns:a="http://schemas.openxmlformats.org/drawingml/2006/main">
              <a:ext uri="{FF2B5EF4-FFF2-40B4-BE49-F238E27FC236}">
                <a16:creationId xmlns:a16="http://schemas.microsoft.com/office/drawing/2014/main" id="{ECFC71B5-C823-44CF-8E0A-7DAEF67D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42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2FFD1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Users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Android testers</a:t>
            </a:r>
          </a:p>
        </p:txBody>
      </p:sp>
      <p:sp>
        <p:nvSpPr>
          <p:cNvPr id="6" name="flutter-app-vamo-android">
            <a:extLst xmlns:a="http://schemas.openxmlformats.org/drawingml/2006/main">
              <a:ext uri="{FF2B5EF4-FFF2-40B4-BE49-F238E27FC236}">
                <a16:creationId xmlns:a16="http://schemas.microsoft.com/office/drawing/2014/main" id="{D6D0FF68-4649-401E-A7CE-6907E410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1638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737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Flutter app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Vamo Android</a:t>
            </a:r>
          </a:p>
        </p:txBody>
      </p:sp>
      <p:sp>
        <p:nvSpPr>
          <p:cNvPr id="7" name="local-drift-db-offline-cache-outbox">
            <a:extLst xmlns:a="http://schemas.openxmlformats.org/drawingml/2006/main">
              <a:ext uri="{FF2B5EF4-FFF2-40B4-BE49-F238E27FC236}">
                <a16:creationId xmlns:a16="http://schemas.microsoft.com/office/drawing/2014/main" id="{BEB9C522-8DFF-48EC-9B89-ADE8D2E3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00550"/>
            <a:ext cx="1638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8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 Drift DB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offline cache + outbox</a:t>
            </a:r>
          </a:p>
        </p:txBody>
      </p:sp>
      <p:sp>
        <p:nvSpPr>
          <p:cNvPr id="8" name="supabase-auth-postgres-rls-storage-realtime-edge-functions">
            <a:extLst xmlns:a="http://schemas.openxmlformats.org/drawingml/2006/main">
              <a:ext uri="{FF2B5EF4-FFF2-40B4-BE49-F238E27FC236}">
                <a16:creationId xmlns:a16="http://schemas.microsoft.com/office/drawing/2014/main" id="{8B080F82-97FC-4516-BF08-CDDAD92F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2286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0D737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Auth + Postgres/RLS + Storage + Realtime + Edge Functions</a:t>
            </a:r>
          </a:p>
        </p:txBody>
      </p:sp>
      <p:sp>
        <p:nvSpPr>
          <p:cNvPr id="9" name="vercel-vamo-world-j-preview-assetlinks-dns">
            <a:extLst xmlns:a="http://schemas.openxmlformats.org/drawingml/2006/main">
              <a:ext uri="{FF2B5EF4-FFF2-40B4-BE49-F238E27FC236}">
                <a16:creationId xmlns:a16="http://schemas.microsoft.com/office/drawing/2014/main" id="{F0C34455-37C8-42A8-98B2-1157D39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91050"/>
            <a:ext cx="2286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vamo.world + /j preview + assetlinks + DNS</a:t>
            </a:r>
          </a:p>
        </p:txBody>
      </p:sp>
      <p:sp>
        <p:nvSpPr>
          <p:cNvPr id="10" name="firebase-fcm-push-crashlytics">
            <a:extLst xmlns:a="http://schemas.openxmlformats.org/drawingml/2006/main">
              <a:ext uri="{FF2B5EF4-FFF2-40B4-BE49-F238E27FC236}">
                <a16:creationId xmlns:a16="http://schemas.microsoft.com/office/drawing/2014/main" id="{A0F179CF-11F7-4F7A-BC07-7A3E8DDA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43050"/>
            <a:ext cx="20764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Firebase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FCM push + Crashlytics</a:t>
            </a:r>
          </a:p>
        </p:txBody>
      </p:sp>
      <p:sp>
        <p:nvSpPr>
          <p:cNvPr id="11" name="brevo-resend-otp-email-primary-fallback">
            <a:extLst xmlns:a="http://schemas.openxmlformats.org/drawingml/2006/main">
              <a:ext uri="{FF2B5EF4-FFF2-40B4-BE49-F238E27FC236}">
                <a16:creationId xmlns:a16="http://schemas.microsoft.com/office/drawing/2014/main" id="{7B8E61EB-B977-478C-870F-4A67D8AC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0764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E9E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Brevo -&gt; Resend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OTP email primary + fallback</a:t>
            </a:r>
          </a:p>
        </p:txBody>
      </p:sp>
      <p:sp>
        <p:nvSpPr>
          <p:cNvPr id="12" name="exchangerate-host-market-fx-rates">
            <a:extLst xmlns:a="http://schemas.openxmlformats.org/drawingml/2006/main">
              <a:ext uri="{FF2B5EF4-FFF2-40B4-BE49-F238E27FC236}">
                <a16:creationId xmlns:a16="http://schemas.microsoft.com/office/drawing/2014/main" id="{53C15FB5-0747-4286-AD62-895A5D7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exchangerate.host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market FX rates</a:t>
            </a:r>
          </a:p>
        </p:txBody>
      </p:sp>
      <p:sp>
        <p:nvSpPr>
          <p:cNvPr id="13" name="posthog-eu-product-analytics">
            <a:extLst xmlns:a="http://schemas.openxmlformats.org/drawingml/2006/main">
              <a:ext uri="{FF2B5EF4-FFF2-40B4-BE49-F238E27FC236}">
                <a16:creationId xmlns:a16="http://schemas.microsoft.com/office/drawing/2014/main" id="{6FDAA653-B670-4207-AE5F-752776AE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076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E8F8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PostHog EU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product analytics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019300" y="3333750"/>
            <a:ext cx="6286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D7377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67100" y="38862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181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286250" y="3314700"/>
            <a:ext cx="93345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D7377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333750"/>
            <a:ext cx="933450" cy="1704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677C8"/>
            </a:solidFill>
            <a:prstDash val="dash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505700" y="1952625"/>
            <a:ext cx="914400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6B44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505700" y="3133725"/>
            <a:ext cx="91440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5B4D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05700" y="3314700"/>
            <a:ext cx="914400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677C8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286250" y="3333750"/>
            <a:ext cx="4133850" cy="2028825"/>
          </a:xfrm>
          <a:prstGeom xmlns:a="http://schemas.openxmlformats.org/drawingml/2006/main" prst="bentConnector5">
            <a:avLst>
              <a:gd name="adj1" fmla="val 19816"/>
              <a:gd name="adj2" fmla="val 56338"/>
              <a:gd name="adj3" fmla="val 94470"/>
            </a:avLst>
          </a:prstGeom>
          <a:ln xmlns:a="http://schemas.openxmlformats.org/drawingml/2006/main" w="19050">
            <a:solidFill>
              <a:srgbClr val="6A2D6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E6FE6-9ABA-4347-B720-4CE1775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Trust boundary: Supabase owns identity, server-side money rules, RLS, media metadata, and durable sync. Client is optimistic/offline; server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651492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E4927FDA-DCCE-4C1F-9174-E209C683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62F92-AAFD-4A5C-88F5-AD84D1EF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Provider roles and failure posture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02AD2-44E2-436D-B7DD-0954A484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T0 blocks sign-in/core sync; T1 degrades a feature; T2 is background.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F7FDE-1C16-40F5-B3B4-ED917EF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provider">
            <a:extLst xmlns:a="http://schemas.openxmlformats.org/drawingml/2006/main">
              <a:ext uri="{FF2B5EF4-FFF2-40B4-BE49-F238E27FC236}">
                <a16:creationId xmlns:a16="http://schemas.microsoft.com/office/drawing/2014/main" id="{F24525D5-A7F9-460F-BE1A-DBE48789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1428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6" name="tier">
            <a:extLst xmlns:a="http://schemas.openxmlformats.org/drawingml/2006/main">
              <a:ext uri="{FF2B5EF4-FFF2-40B4-BE49-F238E27FC236}">
                <a16:creationId xmlns:a16="http://schemas.microsoft.com/office/drawing/2014/main" id="{8E6CD64E-909A-4C54-B39D-10419401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71600"/>
            <a:ext cx="6096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</a:t>
            </a:r>
          </a:p>
        </p:txBody>
      </p:sp>
      <p:sp>
        <p:nvSpPr>
          <p:cNvPr id="7" name="purpose">
            <a:extLst xmlns:a="http://schemas.openxmlformats.org/drawingml/2006/main">
              <a:ext uri="{FF2B5EF4-FFF2-40B4-BE49-F238E27FC236}">
                <a16:creationId xmlns:a16="http://schemas.microsoft.com/office/drawing/2014/main" id="{5369BFF0-8C1B-4CD6-9AF4-8187F7D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71600"/>
            <a:ext cx="228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8" name="if-it-fails">
            <a:extLst xmlns:a="http://schemas.openxmlformats.org/drawingml/2006/main">
              <a:ext uri="{FF2B5EF4-FFF2-40B4-BE49-F238E27FC236}">
                <a16:creationId xmlns:a16="http://schemas.microsoft.com/office/drawing/2014/main" id="{D2FC5617-BFC5-4186-8689-E4644D70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71600"/>
            <a:ext cx="2952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 it fails</a:t>
            </a:r>
          </a:p>
        </p:txBody>
      </p:sp>
      <p:sp>
        <p:nvSpPr>
          <p:cNvPr id="9" name="current-mitigation">
            <a:extLst xmlns:a="http://schemas.openxmlformats.org/drawingml/2006/main">
              <a:ext uri="{FF2B5EF4-FFF2-40B4-BE49-F238E27FC236}">
                <a16:creationId xmlns:a16="http://schemas.microsoft.com/office/drawing/2014/main" id="{BD28ECBA-6E2F-4BB9-A906-F428DA8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716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mitigation</a:t>
            </a:r>
          </a:p>
        </p:txBody>
      </p:sp>
      <p:sp>
        <p:nvSpPr>
          <p:cNvPr id="10" name="supabase">
            <a:extLst xmlns:a="http://schemas.openxmlformats.org/drawingml/2006/main">
              <a:ext uri="{FF2B5EF4-FFF2-40B4-BE49-F238E27FC236}">
                <a16:creationId xmlns:a16="http://schemas.microsoft.com/office/drawing/2014/main" id="{4C2F709A-A681-4BB6-943C-E9B73654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11" name="t0">
            <a:extLst xmlns:a="http://schemas.openxmlformats.org/drawingml/2006/main">
              <a:ext uri="{FF2B5EF4-FFF2-40B4-BE49-F238E27FC236}">
                <a16:creationId xmlns:a16="http://schemas.microsoft.com/office/drawing/2014/main" id="{C5BB28C2-13AF-4ACB-9199-A106D0F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66900"/>
            <a:ext cx="609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T0</a:t>
            </a:r>
          </a:p>
        </p:txBody>
      </p:sp>
      <p:sp>
        <p:nvSpPr>
          <p:cNvPr id="12" name="db-auth-storage-realtime-edge-functions">
            <a:extLst xmlns:a="http://schemas.openxmlformats.org/drawingml/2006/main">
              <a:ext uri="{FF2B5EF4-FFF2-40B4-BE49-F238E27FC236}">
                <a16:creationId xmlns:a16="http://schemas.microsoft.com/office/drawing/2014/main" id="{507F72C2-1E9F-450D-A1F1-4467117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66900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DB, Auth, Storage, Realtime, Edge Functions</a:t>
            </a:r>
          </a:p>
        </p:txBody>
      </p:sp>
      <p:sp>
        <p:nvSpPr>
          <p:cNvPr id="13" name="no-sign-in-sync-cloud-reads-">
            <a:extLst xmlns:a="http://schemas.openxmlformats.org/drawingml/2006/main">
              <a:ext uri="{FF2B5EF4-FFF2-40B4-BE49-F238E27FC236}">
                <a16:creationId xmlns:a16="http://schemas.microsoft.com/office/drawing/2014/main" id="{0B0BB6F0-4A79-4257-BDF6-393B80D2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2952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sign-in/sync/cloud reads.</a:t>
            </a:r>
          </a:p>
        </p:txBody>
      </p:sp>
      <p:sp>
        <p:nvSpPr>
          <p:cNvPr id="14" name="offline-drift-cache-outbox-for-transient-outage-dr-pitr-for-sustained-incidents-">
            <a:extLst xmlns:a="http://schemas.openxmlformats.org/drawingml/2006/main">
              <a:ext uri="{FF2B5EF4-FFF2-40B4-BE49-F238E27FC236}">
                <a16:creationId xmlns:a16="http://schemas.microsoft.com/office/drawing/2014/main" id="{4F8AB80F-66A9-4610-B281-EB9C61D9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2667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Offline Drift cache + outbox for transient outage; DR/PITR for sustained incidents.</a:t>
            </a:r>
          </a:p>
        </p:txBody>
      </p:sp>
      <p:sp>
        <p:nvSpPr>
          <p:cNvPr id="15" name="brevo-resend">
            <a:extLst xmlns:a="http://schemas.openxmlformats.org/drawingml/2006/main">
              <a:ext uri="{FF2B5EF4-FFF2-40B4-BE49-F238E27FC236}">
                <a16:creationId xmlns:a16="http://schemas.microsoft.com/office/drawing/2014/main" id="{482AAD93-05BC-48A1-91FA-905A1D5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Brevo + Resend</a:t>
            </a:r>
          </a:p>
        </p:txBody>
      </p:sp>
      <p:sp>
        <p:nvSpPr>
          <p:cNvPr id="16" name="t0">
            <a:extLst xmlns:a="http://schemas.openxmlformats.org/drawingml/2006/main">
              <a:ext uri="{FF2B5EF4-FFF2-40B4-BE49-F238E27FC236}">
                <a16:creationId xmlns:a16="http://schemas.microsoft.com/office/drawing/2014/main" id="{F1CCA221-6436-4750-B45E-5CF00149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19350"/>
            <a:ext cx="609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T0</a:t>
            </a:r>
          </a:p>
        </p:txBody>
      </p:sp>
      <p:sp>
        <p:nvSpPr>
          <p:cNvPr id="17" name="otp-sign-in-email">
            <a:extLst xmlns:a="http://schemas.openxmlformats.org/drawingml/2006/main">
              <a:ext uri="{FF2B5EF4-FFF2-40B4-BE49-F238E27FC236}">
                <a16:creationId xmlns:a16="http://schemas.microsoft.com/office/drawing/2014/main" id="{DE6649F0-E871-4600-B2AB-5F3E4428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OTP/sign-in email</a:t>
            </a:r>
          </a:p>
        </p:txBody>
      </p:sp>
      <p:sp>
        <p:nvSpPr>
          <p:cNvPr id="18" name="new-sign-ins-stall-if-both-fail-">
            <a:extLst xmlns:a="http://schemas.openxmlformats.org/drawingml/2006/main">
              <a:ext uri="{FF2B5EF4-FFF2-40B4-BE49-F238E27FC236}">
                <a16:creationId xmlns:a16="http://schemas.microsoft.com/office/drawing/2014/main" id="{7ECF9E8B-D248-4838-BD07-3C4D7EE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19350"/>
            <a:ext cx="2952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New sign-ins stall if both fail.</a:t>
            </a:r>
          </a:p>
        </p:txBody>
      </p:sp>
      <p:sp>
        <p:nvSpPr>
          <p:cNvPr id="19" name="primary-fallback-path-proven-on-staging-keep-both-domains-keys-healthy-">
            <a:extLst xmlns:a="http://schemas.openxmlformats.org/drawingml/2006/main">
              <a:ext uri="{FF2B5EF4-FFF2-40B4-BE49-F238E27FC236}">
                <a16:creationId xmlns:a16="http://schemas.microsoft.com/office/drawing/2014/main" id="{D124D10B-538D-4FC6-AC24-779EFB1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667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Primary/fallback path proven on staging; keep both domains/keys healthy.</a:t>
            </a:r>
          </a:p>
        </p:txBody>
      </p:sp>
      <p:sp>
        <p:nvSpPr>
          <p:cNvPr id="20" name="firebase">
            <a:extLst xmlns:a="http://schemas.openxmlformats.org/drawingml/2006/main">
              <a:ext uri="{FF2B5EF4-FFF2-40B4-BE49-F238E27FC236}">
                <a16:creationId xmlns:a16="http://schemas.microsoft.com/office/drawing/2014/main" id="{194BE7DB-3319-4EF3-8206-92D92674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21" name="t1">
            <a:extLst xmlns:a="http://schemas.openxmlformats.org/drawingml/2006/main">
              <a:ext uri="{FF2B5EF4-FFF2-40B4-BE49-F238E27FC236}">
                <a16:creationId xmlns:a16="http://schemas.microsoft.com/office/drawing/2014/main" id="{4C7F032C-C4EC-4F34-92F8-B41EAE52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71800"/>
            <a:ext cx="609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T1</a:t>
            </a:r>
          </a:p>
        </p:txBody>
      </p:sp>
      <p:sp>
        <p:nvSpPr>
          <p:cNvPr id="22" name="push-crash-diagnostics">
            <a:extLst xmlns:a="http://schemas.openxmlformats.org/drawingml/2006/main">
              <a:ext uri="{FF2B5EF4-FFF2-40B4-BE49-F238E27FC236}">
                <a16:creationId xmlns:a16="http://schemas.microsoft.com/office/drawing/2014/main" id="{F677F130-6F81-4D01-885D-3D35C0BA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Push + crash diagnostics</a:t>
            </a:r>
          </a:p>
        </p:txBody>
      </p:sp>
      <p:sp>
        <p:nvSpPr>
          <p:cNvPr id="23" name="push-crash-visibility-degrade-">
            <a:extLst xmlns:a="http://schemas.openxmlformats.org/drawingml/2006/main">
              <a:ext uri="{FF2B5EF4-FFF2-40B4-BE49-F238E27FC236}">
                <a16:creationId xmlns:a16="http://schemas.microsoft.com/office/drawing/2014/main" id="{BB1FF67A-4B40-44C7-BEAF-1B65E4A6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71800"/>
            <a:ext cx="2952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Push/crash visibility degrade.</a:t>
            </a:r>
          </a:p>
        </p:txBody>
      </p:sp>
      <p:sp>
        <p:nvSpPr>
          <p:cNvPr id="24" name="app-remains-usable-in-app-inbox-is-durable-">
            <a:extLst xmlns:a="http://schemas.openxmlformats.org/drawingml/2006/main">
              <a:ext uri="{FF2B5EF4-FFF2-40B4-BE49-F238E27FC236}">
                <a16:creationId xmlns:a16="http://schemas.microsoft.com/office/drawing/2014/main" id="{AFEDC257-1102-404D-91BC-C20F8ED0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2667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 remains usable; in-app inbox is durable.</a:t>
            </a:r>
          </a:p>
        </p:txBody>
      </p:sp>
      <p:sp>
        <p:nvSpPr>
          <p:cNvPr id="25" name="vercel">
            <a:extLst xmlns:a="http://schemas.openxmlformats.org/drawingml/2006/main">
              <a:ext uri="{FF2B5EF4-FFF2-40B4-BE49-F238E27FC236}">
                <a16:creationId xmlns:a16="http://schemas.microsoft.com/office/drawing/2014/main" id="{2A05F088-D93E-4B74-AF4E-4F255E8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26" name="t1">
            <a:extLst xmlns:a="http://schemas.openxmlformats.org/drawingml/2006/main">
              <a:ext uri="{FF2B5EF4-FFF2-40B4-BE49-F238E27FC236}">
                <a16:creationId xmlns:a16="http://schemas.microsoft.com/office/drawing/2014/main" id="{D4F39CDA-68C9-4848-99C8-E6D2A91C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24250"/>
            <a:ext cx="609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T1</a:t>
            </a:r>
          </a:p>
        </p:txBody>
      </p:sp>
      <p:sp>
        <p:nvSpPr>
          <p:cNvPr id="27" name="public-web-invite-previews-assetlinks-dns">
            <a:extLst xmlns:a="http://schemas.openxmlformats.org/drawingml/2006/main">
              <a:ext uri="{FF2B5EF4-FFF2-40B4-BE49-F238E27FC236}">
                <a16:creationId xmlns:a16="http://schemas.microsoft.com/office/drawing/2014/main" id="{C9EA31DB-0EDC-4B86-B0D7-394DD0E2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Public web, invite previews, assetlinks, DNS</a:t>
            </a:r>
          </a:p>
        </p:txBody>
      </p:sp>
      <p:sp>
        <p:nvSpPr>
          <p:cNvPr id="28" name="web-previews-app-links-degrade-">
            <a:extLst xmlns:a="http://schemas.openxmlformats.org/drawingml/2006/main">
              <a:ext uri="{FF2B5EF4-FFF2-40B4-BE49-F238E27FC236}">
                <a16:creationId xmlns:a16="http://schemas.microsoft.com/office/drawing/2014/main" id="{3DE76F0D-F7BF-4D09-BFFD-B56D27E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24250"/>
            <a:ext cx="2952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Web previews/App Links degrade.</a:t>
            </a:r>
          </a:p>
        </p:txBody>
      </p:sp>
      <p:sp>
        <p:nvSpPr>
          <p:cNvPr id="29" name="core-app-works-can-re-point-dns-or-serve-fallback-pages-">
            <a:extLst xmlns:a="http://schemas.openxmlformats.org/drawingml/2006/main">
              <a:ext uri="{FF2B5EF4-FFF2-40B4-BE49-F238E27FC236}">
                <a16:creationId xmlns:a16="http://schemas.microsoft.com/office/drawing/2014/main" id="{2FA03B11-5959-4FA3-B30B-B9E7F655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2667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Core app works; can re-point DNS or serve fallback pages.</a:t>
            </a:r>
          </a:p>
        </p:txBody>
      </p:sp>
      <p:sp>
        <p:nvSpPr>
          <p:cNvPr id="30" name="posthog-eu">
            <a:extLst xmlns:a="http://schemas.openxmlformats.org/drawingml/2006/main">
              <a:ext uri="{FF2B5EF4-FFF2-40B4-BE49-F238E27FC236}">
                <a16:creationId xmlns:a16="http://schemas.microsoft.com/office/drawing/2014/main" id="{A8217A90-16E7-4282-9062-FB05D02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PostHog EU</a:t>
            </a:r>
          </a:p>
        </p:txBody>
      </p:sp>
      <p:sp>
        <p:nvSpPr>
          <p:cNvPr id="31" name="t1">
            <a:extLst xmlns:a="http://schemas.openxmlformats.org/drawingml/2006/main">
              <a:ext uri="{FF2B5EF4-FFF2-40B4-BE49-F238E27FC236}">
                <a16:creationId xmlns:a16="http://schemas.microsoft.com/office/drawing/2014/main" id="{3EB15D05-7A5D-4A0A-B7BF-27F204AA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76700"/>
            <a:ext cx="609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T1</a:t>
            </a:r>
          </a:p>
        </p:txBody>
      </p:sp>
      <p:sp>
        <p:nvSpPr>
          <p:cNvPr id="32" name="product-analytics">
            <a:extLst xmlns:a="http://schemas.openxmlformats.org/drawingml/2006/main">
              <a:ext uri="{FF2B5EF4-FFF2-40B4-BE49-F238E27FC236}">
                <a16:creationId xmlns:a16="http://schemas.microsoft.com/office/drawing/2014/main" id="{F5CE12C9-3A97-4A71-BA0D-9C07D69A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76700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Product analytics</a:t>
            </a:r>
          </a:p>
        </p:txBody>
      </p:sp>
      <p:sp>
        <p:nvSpPr>
          <p:cNvPr id="33" name="growth-retention-decisions-go-blind-">
            <a:extLst xmlns:a="http://schemas.openxmlformats.org/drawingml/2006/main">
              <a:ext uri="{FF2B5EF4-FFF2-40B4-BE49-F238E27FC236}">
                <a16:creationId xmlns:a16="http://schemas.microsoft.com/office/drawing/2014/main" id="{5F23AC16-384B-4C26-9B7E-3C63066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76700"/>
            <a:ext cx="2952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Growth/retention decisions go blind.</a:t>
            </a:r>
          </a:p>
        </p:txBody>
      </p:sp>
      <p:sp>
        <p:nvSpPr>
          <p:cNvPr id="34" name="no-runtime-dependency-keep-event-budget-and-export-plan-">
            <a:extLst xmlns:a="http://schemas.openxmlformats.org/drawingml/2006/main">
              <a:ext uri="{FF2B5EF4-FFF2-40B4-BE49-F238E27FC236}">
                <a16:creationId xmlns:a16="http://schemas.microsoft.com/office/drawing/2014/main" id="{24EE287B-6335-415A-A490-5F367863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2667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runtime dependency; keep event budget and export plan.</a:t>
            </a:r>
          </a:p>
        </p:txBody>
      </p:sp>
      <p:sp>
        <p:nvSpPr>
          <p:cNvPr id="35" name="exchangerate-host">
            <a:extLst xmlns:a="http://schemas.openxmlformats.org/drawingml/2006/main">
              <a:ext uri="{FF2B5EF4-FFF2-40B4-BE49-F238E27FC236}">
                <a16:creationId xmlns:a16="http://schemas.microsoft.com/office/drawing/2014/main" id="{FB199DB1-74B2-42D6-A234-F3C770DB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exchangerate.host</a:t>
            </a:r>
          </a:p>
        </p:txBody>
      </p:sp>
      <p:sp>
        <p:nvSpPr>
          <p:cNvPr id="36" name="t1">
            <a:extLst xmlns:a="http://schemas.openxmlformats.org/drawingml/2006/main">
              <a:ext uri="{FF2B5EF4-FFF2-40B4-BE49-F238E27FC236}">
                <a16:creationId xmlns:a16="http://schemas.microsoft.com/office/drawing/2014/main" id="{ED6902EE-966F-4D8A-ABE9-F791155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29150"/>
            <a:ext cx="609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T1</a:t>
            </a:r>
          </a:p>
        </p:txBody>
      </p:sp>
      <p:sp>
        <p:nvSpPr>
          <p:cNvPr id="37" name="market-fx-snapshots">
            <a:extLst xmlns:a="http://schemas.openxmlformats.org/drawingml/2006/main">
              <a:ext uri="{FF2B5EF4-FFF2-40B4-BE49-F238E27FC236}">
                <a16:creationId xmlns:a16="http://schemas.microsoft.com/office/drawing/2014/main" id="{37983E29-1980-4692-B462-93E682B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29150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Market FX snapshots</a:t>
            </a:r>
          </a:p>
        </p:txBody>
      </p:sp>
      <p:sp>
        <p:nvSpPr>
          <p:cNvPr id="38" name="new-refresh-fx-fails-">
            <a:extLst xmlns:a="http://schemas.openxmlformats.org/drawingml/2006/main">
              <a:ext uri="{FF2B5EF4-FFF2-40B4-BE49-F238E27FC236}">
                <a16:creationId xmlns:a16="http://schemas.microsoft.com/office/drawing/2014/main" id="{8AC1DD87-50A6-4524-A1CB-9F8937F6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2952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New/refresh FX fails.</a:t>
            </a:r>
          </a:p>
        </p:txBody>
      </p:sp>
      <p:sp>
        <p:nvSpPr>
          <p:cNvPr id="39" name="existing-expenses-safe-fail-loud-no-silent-money-drift-">
            <a:extLst xmlns:a="http://schemas.openxmlformats.org/drawingml/2006/main">
              <a:ext uri="{FF2B5EF4-FFF2-40B4-BE49-F238E27FC236}">
                <a16:creationId xmlns:a16="http://schemas.microsoft.com/office/drawing/2014/main" id="{66B107BF-853E-4EBF-B84D-22F60C25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2667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Existing expenses safe; fail loud, no silent money drift.</a:t>
            </a:r>
          </a:p>
        </p:txBody>
      </p:sp>
      <p:sp>
        <p:nvSpPr>
          <p:cNvPr id="40" name="google-play">
            <a:extLst xmlns:a="http://schemas.openxmlformats.org/drawingml/2006/main">
              <a:ext uri="{FF2B5EF4-FFF2-40B4-BE49-F238E27FC236}">
                <a16:creationId xmlns:a16="http://schemas.microsoft.com/office/drawing/2014/main" id="{1532949D-9458-439A-969F-705A19E7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428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Google Play</a:t>
            </a:r>
          </a:p>
        </p:txBody>
      </p:sp>
      <p:sp>
        <p:nvSpPr>
          <p:cNvPr id="41" name="t2">
            <a:extLst xmlns:a="http://schemas.openxmlformats.org/drawingml/2006/main">
              <a:ext uri="{FF2B5EF4-FFF2-40B4-BE49-F238E27FC236}">
                <a16:creationId xmlns:a16="http://schemas.microsoft.com/office/drawing/2014/main" id="{A5E112D8-BD6E-4F82-A251-21F14D76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81600"/>
            <a:ext cx="609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T2</a:t>
            </a:r>
          </a:p>
        </p:txBody>
      </p:sp>
      <p:sp>
        <p:nvSpPr>
          <p:cNvPr id="42" name="android-distribution">
            <a:extLst xmlns:a="http://schemas.openxmlformats.org/drawingml/2006/main">
              <a:ext uri="{FF2B5EF4-FFF2-40B4-BE49-F238E27FC236}">
                <a16:creationId xmlns:a16="http://schemas.microsoft.com/office/drawing/2014/main" id="{360E2683-9A52-46BA-8053-49F94239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81600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Android distribution</a:t>
            </a:r>
          </a:p>
        </p:txBody>
      </p:sp>
      <p:sp>
        <p:nvSpPr>
          <p:cNvPr id="43" name="store-update-channel-affected-">
            <a:extLst xmlns:a="http://schemas.openxmlformats.org/drawingml/2006/main">
              <a:ext uri="{FF2B5EF4-FFF2-40B4-BE49-F238E27FC236}">
                <a16:creationId xmlns:a16="http://schemas.microsoft.com/office/drawing/2014/main" id="{13878E83-B3E5-45F2-98D8-D87D299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81600"/>
            <a:ext cx="29527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Store/update channel affected.</a:t>
            </a:r>
          </a:p>
        </p:txBody>
      </p:sp>
      <p:sp>
        <p:nvSpPr>
          <p:cNvPr id="44" name="running-installs-unaffected-">
            <a:extLst xmlns:a="http://schemas.openxmlformats.org/drawingml/2006/main">
              <a:ext uri="{FF2B5EF4-FFF2-40B4-BE49-F238E27FC236}">
                <a16:creationId xmlns:a16="http://schemas.microsoft.com/office/drawing/2014/main" id="{AF9429D7-7FF1-4927-81E6-F1F18EDE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2667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Running installs unaffected.</a:t>
            </a:r>
          </a:p>
        </p:txBody>
      </p:sp>
    </p:spTree>
    <p:extLst>
      <p:ext uri="{BB962C8B-B14F-4D97-AF65-F5344CB8AC3E}">
        <p14:creationId xmlns:p14="http://schemas.microsoft.com/office/powerpoint/2010/main" val="547401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75A71F08-1196-437F-AB04-5E3B2D0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9B40E-46A8-4DCC-B87D-9218CE64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Data boundaries: what leaves Vamo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32B55-C4E5-49C7-B071-40B87675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Use this as a provider-risk mental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6A0BD-C185-4FCF-92D8-0599136E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CCFAE-013F-42C6-A265-10799711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429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DA34D-71D3-4577-99C5-0D15D71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keeps the crown jewels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09462-EF8A-4FBC-8A05-7A511752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3086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Auth identity, profiles, trips, memberships, expenses, plan items, media metadata, notifications, storage objects, server-side RLS/RPC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25A20-53D6-4547-B008-35A075B3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238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E9E6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22817-73C2-4F24-A6A3-8740DA94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621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Email providers see email delivery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C6521-4B89-4151-97CF-765CB7FA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57375"/>
            <a:ext cx="2895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Brevo/Resend receive recipient email, subject, and OTP email body. They should not receive trip contents or financial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F9B09-2B5A-4E1B-93F2-83EFAC74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238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8825A-76B2-4929-A8DA-12842A48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Firebase sees technical device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A4606-1DCE-4F9D-87D4-2428FC47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57375"/>
            <a:ext cx="2895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FCM handles push tokens and delivery; Crashlytics receives sanitized technical crash reports. No trip contents or invite tokens in logs.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BBADE-1F22-401C-8B6F-BD7B6F8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3429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1E8F8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36D1B-E89E-49CC-97A3-84ED291F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PostHog sees product telemetry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738D0-7648-4F6A-97B0-AC44DEDE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Sanitized event names and properties. Keep raw errors, trip names, receipts, invite tokens, and message text out of analytics.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DBCA3-47A4-439F-BFF0-38279F8B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C365A-F6DE-4C22-9B25-C0A5643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FX provider sees currency requests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3785D-9899-45AD-AFA5-CAA918D2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433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exchangerate.host should see currency pairs only. No user or trip identity needed for market-rate lookup.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E45BC-D163-457A-B999-84ECC14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8F8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C58B7-AB67-49D7-A0C4-2A53F730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 serves public surface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F2593-4E4F-453D-AE36-13022B35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433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Landing, policies, invite preview, assetlinks, DNS. Public preview RPC must stay minimal: no finances, no roster, no media secrets.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D35FB-4503-43F1-936D-4FEAE3F1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Enterprise principle: keep PII/money/media inside Supabase or controlled storage; send only the minimum event/payload needed to external providers.</a:t>
            </a:r>
          </a:p>
        </p:txBody>
      </p:sp>
    </p:spTree>
    <p:extLst>
      <p:ext uri="{BB962C8B-B14F-4D97-AF65-F5344CB8AC3E}">
        <p14:creationId xmlns:p14="http://schemas.microsoft.com/office/powerpoint/2010/main" val="574257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B6326A0E-7C5B-4D44-8905-BE1FFD1D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98EE2-DB28-4355-AC16-67D7541A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Business plan fit: base-case is inside the launch envelope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77E59-0812-4380-8720-F79F5059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The current stack is not the bottleneck for the first proof; product loops 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2CAE2-C0F8-46ED-983C-400D1410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106k-base-case-mau-at-m36">
            <a:extLst xmlns:a="http://schemas.openxmlformats.org/drawingml/2006/main">
              <a:ext uri="{FF2B5EF4-FFF2-40B4-BE49-F238E27FC236}">
                <a16:creationId xmlns:a16="http://schemas.microsoft.com/office/drawing/2014/main" id="{49F7954F-B610-4E9F-BF8E-7CC491AD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905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106k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base-case MAU at m36</a:t>
            </a:r>
          </a:p>
        </p:txBody>
      </p:sp>
      <p:sp>
        <p:nvSpPr>
          <p:cNvPr id="6" name="4-4k-base-case-paying-users-at-m36">
            <a:extLst xmlns:a="http://schemas.openxmlformats.org/drawingml/2006/main">
              <a:ext uri="{FF2B5EF4-FFF2-40B4-BE49-F238E27FC236}">
                <a16:creationId xmlns:a16="http://schemas.microsoft.com/office/drawing/2014/main" id="{C9CC54ED-10F5-4954-837E-D7C5459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28750"/>
            <a:ext cx="2095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FFD1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4.4k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base-case paying users at m36</a:t>
            </a:r>
          </a:p>
        </p:txBody>
      </p:sp>
      <p:sp>
        <p:nvSpPr>
          <p:cNvPr id="7" name="-183k-y3-net-revenue-base-case">
            <a:extLst xmlns:a="http://schemas.openxmlformats.org/drawingml/2006/main">
              <a:ext uri="{FF2B5EF4-FFF2-40B4-BE49-F238E27FC236}">
                <a16:creationId xmlns:a16="http://schemas.microsoft.com/office/drawing/2014/main" id="{FCFD5C47-4A2F-4FA9-BDE2-CA7A3BF6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28750"/>
            <a:ext cx="2095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$183k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Y3 net revenue, base case</a:t>
            </a:r>
          </a:p>
        </p:txBody>
      </p:sp>
      <p:sp>
        <p:nvSpPr>
          <p:cNvPr id="8" name="-520-mo-planned-fixed-tooling-infra-floor">
            <a:extLst xmlns:a="http://schemas.openxmlformats.org/drawingml/2006/main">
              <a:ext uri="{FF2B5EF4-FFF2-40B4-BE49-F238E27FC236}">
                <a16:creationId xmlns:a16="http://schemas.microsoft.com/office/drawing/2014/main" id="{BA720BB6-6583-4923-A67E-86B5824B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28750"/>
            <a:ext cx="2381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E9E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$520/mo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planned fixed tooling/infra floor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9E2B9724-1282-4193-879E-9AECC4A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C4C74-390A-48F5-AC88-B5CB0498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Pro includes 100k MAU before MAU overage; base-case m36 is just above that line, not wildly beyond it.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C8EDC525-D408-47E5-88E3-0DE40A10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50B95-B4FE-4B6C-9525-14A1B9D5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 Pro includes enough web transfer/edge headroom for invite previews and the marketing site in early launch.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BA3E1484-4C31-4DB1-9372-B7776AC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714C6-D58F-4CBC-8036-E074F330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Resend/Brevo free tiers are enough for closed beta; paid email tiers are cheap relative to a working paid funnel.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1F21A27D-2F9E-45E0-B101-6BE4E177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4A686-4570-415F-9EF0-6829D759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81475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PostHog free analytics can cover disciplined event volume; identified-event volume and replay are the watch items.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DD0A80DE-D809-4368-99EB-1602B872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B7B58-15A6-4FF5-A9A3-8DBAB69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978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business model says paid acquisition is not viable; architecture must support product-led loops, not paid ad bursts.</a:t>
            </a:r>
          </a:p>
        </p:txBody>
      </p:sp>
    </p:spTree>
    <p:extLst>
      <p:ext uri="{BB962C8B-B14F-4D97-AF65-F5344CB8AC3E}">
        <p14:creationId xmlns:p14="http://schemas.microsoft.com/office/powerpoint/2010/main" val="113572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1B3354A1-BA07-4EB0-A297-57AF3B2A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8E660-D427-410F-954C-0D5D4A1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Where the current setup will bend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55A0E-B924-4AA4-AB96-F73CBEFD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Not all dependencies become expensive at the same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FD48B-093E-4D72-93EA-E4206431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1EE4C-8F45-4579-8074-FC70FC1A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3162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E9E6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75107-1E5C-4558-A9BA-F6C4D435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1. Supabase concentration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F3186-1F63-4238-8E4F-33F6927F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DB/Auth/Storage/Functions in one vendor and likely one primary region. Upgrade compute first; add read replicas later.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6A1F1-3025-405D-9959-C8AC2F7D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162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E2C8E-F4E8-479A-95C5-9C76D16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2. Media and render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CFCB2-95ED-40E0-A81B-DD911FA5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95475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TripReel, action-cam, recaps, and unlimited storage are the first true cost accelerants. Put fair use and media lifecycle in before launch-wide growth.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FFAB0-DDCB-469E-9DE3-7F2CEBC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66850"/>
            <a:ext cx="3162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EE362-DE30-4CEA-A9D9-EBC31E11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002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 Email quota and deliverability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663E4-65B5-455E-B6D4-4A311F15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95475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OTP volume scales with sign-ins. Keep Brevo+Resend both healthy; add alerting on fallback usage, bounce rate, and domain reputation.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127D6-8D7F-487A-ABD1-1A874F8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24300"/>
            <a:ext cx="3162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8F8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BBB6F-A97F-4741-8EBF-96E0C288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57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Analytics event volume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B2C05-C57F-4DDD-B538-5C57B281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52925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PostHog can stay cheap if event taxonomy is tight. Session replay and identified high-volume events can become noisy/expensive.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780FA-D705-49DC-B697-BF809ADC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24300"/>
            <a:ext cx="3162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B356E-F4BA-4EDF-B842-0AB625FA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5. Global 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DACDB-FD98-4636-860E-F1B76C6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52925"/>
            <a:ext cx="281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Offline-first masks reads/writes, but users in APAC/Americas will feel auth, sync, invite previews, and media download latency from an EU primary.</a:t>
            </a:r>
          </a:p>
        </p:txBody>
      </p:sp>
    </p:spTree>
    <p:extLst>
      <p:ext uri="{BB962C8B-B14F-4D97-AF65-F5344CB8AC3E}">
        <p14:creationId xmlns:p14="http://schemas.microsoft.com/office/powerpoint/2010/main" val="1731862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BA5E5E44-FBDD-4F55-86B4-37E42DCF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89A78-AFD8-4B8E-8AAF-CC1D4F4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Enterprise-grade scaling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EAD66-D55B-4F85-80F4-428F8042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Buy capacity only after a measured gate trips.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E5D1D-AD20-428B-BFE6-83D62181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closed-beta-0-5k-mau">
            <a:extLst xmlns:a="http://schemas.openxmlformats.org/drawingml/2006/main">
              <a:ext uri="{FF2B5EF4-FFF2-40B4-BE49-F238E27FC236}">
                <a16:creationId xmlns:a16="http://schemas.microsoft.com/office/drawing/2014/main" id="{E40C0BB3-B02C-4C88-9FFC-394479C9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77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Closed beta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0-5k 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EBF34-086F-40CD-98DB-EDE15B5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Pro, Vercel Pro, Resend+Brevo, Crashlytics, PITR, smoke/k6 gates.</a:t>
            </a:r>
          </a:p>
        </p:txBody>
      </p:sp>
      <p:sp>
        <p:nvSpPr>
          <p:cNvPr id="7" name="public-v1-5k-100k-mau">
            <a:extLst xmlns:a="http://schemas.openxmlformats.org/drawingml/2006/main">
              <a:ext uri="{FF2B5EF4-FFF2-40B4-BE49-F238E27FC236}">
                <a16:creationId xmlns:a16="http://schemas.microsoft.com/office/drawing/2014/main" id="{ADB55AA2-3937-4961-993C-66F876A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66850"/>
            <a:ext cx="177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FD1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Public v1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5k-100k MAU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9F647-A44C-43F3-A995-A5F6D973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4795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Compute Small/Medium, storage export, spend alerts, event budgets, media retention rules.</a:t>
            </a:r>
          </a:p>
        </p:txBody>
      </p:sp>
      <p:sp>
        <p:nvSpPr>
          <p:cNvPr id="9" name="traction-100k-500k-mau">
            <a:extLst xmlns:a="http://schemas.openxmlformats.org/drawingml/2006/main">
              <a:ext uri="{FF2B5EF4-FFF2-40B4-BE49-F238E27FC236}">
                <a16:creationId xmlns:a16="http://schemas.microsoft.com/office/drawing/2014/main" id="{B7F2D1C3-1909-49AE-889E-B8D56CE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66850"/>
            <a:ext cx="177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Traction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100k-500k MAU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7966F-041B-45BD-BDEB-22885622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Dedicated DB compute, read replica for web/read-heavy surfaces, queue media jobs, paid email tiers.</a:t>
            </a:r>
          </a:p>
        </p:txBody>
      </p:sp>
      <p:sp>
        <p:nvSpPr>
          <p:cNvPr id="11" name="breakout-500k-1m-mau">
            <a:extLst xmlns:a="http://schemas.openxmlformats.org/drawingml/2006/main">
              <a:ext uri="{FF2B5EF4-FFF2-40B4-BE49-F238E27FC236}">
                <a16:creationId xmlns:a16="http://schemas.microsoft.com/office/drawing/2014/main" id="{D5BE4FAF-1007-4B9B-99AC-ED1AA2D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66850"/>
            <a:ext cx="177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E9E6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Breakout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500k-1M+ MAU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77F67-4788-483B-AC4B-2C029F9B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Multi-region read replicas, CDN/media pipeline, log drains, SLOs, support console, data warehouse exports.</a:t>
            </a:r>
          </a:p>
        </p:txBody>
      </p:sp>
      <p:sp>
        <p:nvSpPr>
          <p:cNvPr id="13" name="enterprise-multi-mau-global">
            <a:extLst xmlns:a="http://schemas.openxmlformats.org/drawingml/2006/main">
              <a:ext uri="{FF2B5EF4-FFF2-40B4-BE49-F238E27FC236}">
                <a16:creationId xmlns:a16="http://schemas.microsoft.com/office/drawing/2014/main" id="{14B5099A-0C9D-4B62-BEF3-A18FEB99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66850"/>
            <a:ext cx="1771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1E8F8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Enterprise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multi-MAU/global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2D413-AA9B-4661-B08D-231A158B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Enterprise or self-host escape plan, region/data residency strategy, incident rota, compliance posture.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3FB78-227E-42FA-8DEF-12D071D1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Trigger metrics</a:t>
            </a:r>
          </a:p>
        </p:txBody>
      </p:sp>
      <p:sp>
        <p:nvSpPr>
          <p:cNvPr id="16" name="bullet-dot">
            <a:extLst xmlns:a="http://schemas.openxmlformats.org/drawingml/2006/main">
              <a:ext uri="{FF2B5EF4-FFF2-40B4-BE49-F238E27FC236}">
                <a16:creationId xmlns:a16="http://schemas.microsoft.com/office/drawing/2014/main" id="{EA970122-0814-48CC-A00C-720F0437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B1508-CE86-47ED-883A-F80CC652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935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DB CPU/IO and p95 sync latency</a:t>
            </a:r>
          </a:p>
        </p:txBody>
      </p:sp>
      <p:sp>
        <p:nvSpPr>
          <p:cNvPr id="18" name="bullet-dot">
            <a:extLst xmlns:a="http://schemas.openxmlformats.org/drawingml/2006/main">
              <a:ext uri="{FF2B5EF4-FFF2-40B4-BE49-F238E27FC236}">
                <a16:creationId xmlns:a16="http://schemas.microsoft.com/office/drawing/2014/main" id="{215B511C-72F7-48C6-90E4-7AB8FED6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DC6EE-72DB-45CF-BFF7-1DDA4095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935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Storage GB, egress, and media cache misses</a:t>
            </a:r>
          </a:p>
        </p:txBody>
      </p:sp>
      <p:sp>
        <p:nvSpPr>
          <p:cNvPr id="20" name="bullet-dot">
            <a:extLst xmlns:a="http://schemas.openxmlformats.org/drawingml/2006/main">
              <a:ext uri="{FF2B5EF4-FFF2-40B4-BE49-F238E27FC236}">
                <a16:creationId xmlns:a16="http://schemas.microsoft.com/office/drawing/2014/main" id="{7C9EB871-1A21-4BD9-91FD-5BBA5B20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9BC66-ECFA-4480-A9FD-17D4D517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62650"/>
            <a:ext cx="935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OTP send rate, bounces, fallback usage</a:t>
            </a:r>
          </a:p>
        </p:txBody>
      </p:sp>
      <p:sp>
        <p:nvSpPr>
          <p:cNvPr id="22" name="bullet-dot">
            <a:extLst xmlns:a="http://schemas.openxmlformats.org/drawingml/2006/main">
              <a:ext uri="{FF2B5EF4-FFF2-40B4-BE49-F238E27FC236}">
                <a16:creationId xmlns:a16="http://schemas.microsoft.com/office/drawing/2014/main" id="{A5043B07-9B46-4BB3-93A1-D4025A96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958E4-FFAF-43E4-85AA-1412DF4A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10300"/>
            <a:ext cx="935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PostHog event volume and cost per active trip</a:t>
            </a:r>
          </a:p>
        </p:txBody>
      </p:sp>
      <p:sp>
        <p:nvSpPr>
          <p:cNvPr id="24" name="bullet-dot">
            <a:extLst xmlns:a="http://schemas.openxmlformats.org/drawingml/2006/main">
              <a:ext uri="{FF2B5EF4-FFF2-40B4-BE49-F238E27FC236}">
                <a16:creationId xmlns:a16="http://schemas.microsoft.com/office/drawing/2014/main" id="{82D12D36-A1F0-4F68-A457-1D83A4A9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0BD3E-A1EC-40F8-ADDE-D3B45EC4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457950"/>
            <a:ext cx="935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Crash-free users and support tickets per 1k MAU</a:t>
            </a:r>
          </a:p>
        </p:txBody>
      </p:sp>
    </p:spTree>
    <p:extLst>
      <p:ext uri="{BB962C8B-B14F-4D97-AF65-F5344CB8AC3E}">
        <p14:creationId xmlns:p14="http://schemas.microsoft.com/office/powerpoint/2010/main" val="11339720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AE222193-B409-431F-8633-1657AF4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465A8-14C7-43BA-89C9-6B9B8C53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Region plan: EU-first, then reads near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C8725-8D3B-4689-83CC-7CEF0F92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Vamo can go global before the database becomes global-write.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5648B-C0B9-4861-A3FC-8148411B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eu-primary-supabase-postgres-storage-auth-vercel-eu-edge-resend-eu">
            <a:extLst xmlns:a="http://schemas.openxmlformats.org/drawingml/2006/main">
              <a:ext uri="{FF2B5EF4-FFF2-40B4-BE49-F238E27FC236}">
                <a16:creationId xmlns:a16="http://schemas.microsoft.com/office/drawing/2014/main" id="{78CA9800-5504-41A6-AD02-0E74208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2743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5F6F3"/>
          </a:solidFill>
          <a:ln xmlns:a="http://schemas.openxmlformats.org/drawingml/2006/main" w="9525">
            <a:solidFill>
              <a:srgbClr val="0D737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EU primary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Postgres + Storage + Auth</a:t>
            </a:r>
          </a:p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 EU edge + Resend EU</a:t>
            </a:r>
          </a:p>
        </p:txBody>
      </p:sp>
      <p:sp>
        <p:nvSpPr>
          <p:cNvPr id="6" name="americas-read-path-read-replica-cdn-media-edge-support-english-first-growth">
            <a:extLst xmlns:a="http://schemas.openxmlformats.org/drawingml/2006/main">
              <a:ext uri="{FF2B5EF4-FFF2-40B4-BE49-F238E27FC236}">
                <a16:creationId xmlns:a16="http://schemas.microsoft.com/office/drawing/2014/main" id="{4798EDED-1BC9-4EE2-9441-9ED51CEE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52550"/>
            <a:ext cx="2743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Americas read path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 replica + CDN/media edge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Support English-first growth</a:t>
            </a:r>
          </a:p>
        </p:txBody>
      </p:sp>
      <p:sp>
        <p:nvSpPr>
          <p:cNvPr id="7" name="apac-read-path-add-when-latency-or-traction-demands-avoid-premature-region-cost">
            <a:extLst xmlns:a="http://schemas.openxmlformats.org/drawingml/2006/main">
              <a:ext uri="{FF2B5EF4-FFF2-40B4-BE49-F238E27FC236}">
                <a16:creationId xmlns:a16="http://schemas.microsoft.com/office/drawing/2014/main" id="{1F5C873C-9112-4F9C-9AB8-C4FE8D0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29050"/>
            <a:ext cx="2743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APAC read path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Add when latency or traction demands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Avoid premature region cost</a:t>
            </a:r>
          </a:p>
        </p:txBody>
      </p:sp>
      <p:sp>
        <p:nvSpPr>
          <p:cNvPr id="8" name="global-control-plane-observability-spend-limits-incident-process-provider-runbooks">
            <a:extLst xmlns:a="http://schemas.openxmlformats.org/drawingml/2006/main">
              <a:ext uri="{FF2B5EF4-FFF2-40B4-BE49-F238E27FC236}">
                <a16:creationId xmlns:a16="http://schemas.microsoft.com/office/drawing/2014/main" id="{4D502B30-0EB5-447E-8143-AB1699E8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4003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1E8F8"/>
          </a:solidFill>
          <a:ln xmlns:a="http://schemas.openxmlformats.org/drawingml/2006/main" w="9525">
            <a:solidFill>
              <a:srgbClr val="C7D2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Global control plane</a:t>
            </a:r>
          </a:p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Observability, spend limits, incident process, provider runbooks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1914525"/>
            <a:ext cx="12192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677C8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95750" y="2771775"/>
            <a:ext cx="12192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6B44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58150" y="1914525"/>
            <a:ext cx="514350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A2D6F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8058150" y="3276600"/>
            <a:ext cx="514350" cy="1114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A2D6F"/>
            </a:solidFill>
            <a:prstDash val="solid"/>
          </a:ln>
        </p:spPr>
      </p:cxn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27690117-496C-4384-8623-6247B93B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8FD5C-581F-47B6-95E1-5368D65A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973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Writes stay on the primary until the product has enough scale to justify regional write complexity.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BBEFA324-02F5-493D-B31E-45EC1A36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81F64-5C6A-468A-BB32-428DF181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14975"/>
            <a:ext cx="973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 replicas reduce latency for public previews, read-heavy trip views, analytics/admin, and export workloads.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7C8FDF24-21C7-48A0-B4D8-09753C34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C8272-D382-4049-ABE5-5171E69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73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Media should move behind explicit lifecycle rules and object-byte backup before TripReel/action-cam expansion.</a:t>
            </a:r>
          </a:p>
        </p:txBody>
      </p:sp>
      <p:sp>
        <p:nvSpPr>
          <p:cNvPr id="19" name="bullet-dot">
            <a:extLst xmlns:a="http://schemas.openxmlformats.org/drawingml/2006/main">
              <a:ext uri="{FF2B5EF4-FFF2-40B4-BE49-F238E27FC236}">
                <a16:creationId xmlns:a16="http://schemas.microsoft.com/office/drawing/2014/main" id="{2776F42F-D7F2-44A7-BB4B-80B2D80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81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E"/>
          </a:solidFill>
          <a:ln xmlns:a="http://schemas.openxmlformats.org/drawingml/2006/main" w="0">
            <a:solidFill>
              <a:srgbClr val="00A88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A3A38-DE10-46FB-8B8B-1F0BAD2E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05525"/>
            <a:ext cx="973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 residency becomes a business decision: EU-first is clean for launch; enterprise deals may require regional commitments.</a:t>
            </a:r>
          </a:p>
        </p:txBody>
      </p:sp>
    </p:spTree>
    <p:extLst>
      <p:ext uri="{BB962C8B-B14F-4D97-AF65-F5344CB8AC3E}">
        <p14:creationId xmlns:p14="http://schemas.microsoft.com/office/powerpoint/2010/main" val="739453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1B8620B8-DB86-4D81-8318-94D0987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D783E-F743-45FC-881E-6E30206D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Cost bands: what to expect if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890A4-0F8A-474E-9C80-E071EB99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Directional monthly platform spend, excluding founder time and major paid acquisition.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FEA3C-BA94-4561-AEDC-12A1EB1F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stage">
            <a:extLst xmlns:a="http://schemas.openxmlformats.org/drawingml/2006/main">
              <a:ext uri="{FF2B5EF4-FFF2-40B4-BE49-F238E27FC236}">
                <a16:creationId xmlns:a16="http://schemas.microsoft.com/office/drawing/2014/main" id="{F29F1E9F-CD31-4707-9B22-FC611300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619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6" name="monthly-spend">
            <a:extLst xmlns:a="http://schemas.openxmlformats.org/drawingml/2006/main">
              <a:ext uri="{FF2B5EF4-FFF2-40B4-BE49-F238E27FC236}">
                <a16:creationId xmlns:a16="http://schemas.microsoft.com/office/drawing/2014/main" id="{18B315AE-6A08-44B4-87C4-999B2F96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28750"/>
            <a:ext cx="1524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Monthly spend</a:t>
            </a:r>
          </a:p>
        </p:txBody>
      </p:sp>
      <p:sp>
        <p:nvSpPr>
          <p:cNvPr id="7" name="what-drives-it">
            <a:extLst xmlns:a="http://schemas.openxmlformats.org/drawingml/2006/main">
              <a:ext uri="{FF2B5EF4-FFF2-40B4-BE49-F238E27FC236}">
                <a16:creationId xmlns:a16="http://schemas.microsoft.com/office/drawing/2014/main" id="{BE59EF99-7635-4180-80BA-6870C3D4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6191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F36"/>
          </a:solidFill>
          <a:ln xmlns:a="http://schemas.openxmlformats.org/drawingml/2006/main" w="9525">
            <a:solidFill>
              <a:srgbClr val="102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drives it</a:t>
            </a:r>
          </a:p>
        </p:txBody>
      </p:sp>
      <p:sp>
        <p:nvSpPr>
          <p:cNvPr id="8" name="closed-beta">
            <a:extLst xmlns:a="http://schemas.openxmlformats.org/drawingml/2006/main">
              <a:ext uri="{FF2B5EF4-FFF2-40B4-BE49-F238E27FC236}">
                <a16:creationId xmlns:a16="http://schemas.microsoft.com/office/drawing/2014/main" id="{6D38F362-E1C8-49C9-B1E1-98DD1FCC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Closed beta</a:t>
            </a:r>
          </a:p>
        </p:txBody>
      </p:sp>
      <p:sp>
        <p:nvSpPr>
          <p:cNvPr id="9" name="-45-150">
            <a:extLst xmlns:a="http://schemas.openxmlformats.org/drawingml/2006/main">
              <a:ext uri="{FF2B5EF4-FFF2-40B4-BE49-F238E27FC236}">
                <a16:creationId xmlns:a16="http://schemas.microsoft.com/office/drawing/2014/main" id="{B88E22A8-4FF4-4350-BFE1-FE5D9B17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1524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$45-$150</a:t>
            </a:r>
          </a:p>
        </p:txBody>
      </p:sp>
      <p:sp>
        <p:nvSpPr>
          <p:cNvPr id="10" name="supabase-pro-vercel-pro-mostly-free-firebase-posthog-email-fx-">
            <a:extLst xmlns:a="http://schemas.openxmlformats.org/drawingml/2006/main">
              <a:ext uri="{FF2B5EF4-FFF2-40B4-BE49-F238E27FC236}">
                <a16:creationId xmlns:a16="http://schemas.microsoft.com/office/drawing/2014/main" id="{5C66F142-17F2-446B-9B98-3682E57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Pro + Vercel Pro + mostly free Firebase/PostHog/email/FX.</a:t>
            </a:r>
          </a:p>
        </p:txBody>
      </p:sp>
      <p:sp>
        <p:nvSpPr>
          <p:cNvPr id="11" name="public-v1">
            <a:extLst xmlns:a="http://schemas.openxmlformats.org/drawingml/2006/main">
              <a:ext uri="{FF2B5EF4-FFF2-40B4-BE49-F238E27FC236}">
                <a16:creationId xmlns:a16="http://schemas.microsoft.com/office/drawing/2014/main" id="{8F00A2A2-2E24-4ECB-AFE1-ABF103B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Public v1</a:t>
            </a:r>
          </a:p>
        </p:txBody>
      </p:sp>
      <p:sp>
        <p:nvSpPr>
          <p:cNvPr id="12" name="-150-500">
            <a:extLst xmlns:a="http://schemas.openxmlformats.org/drawingml/2006/main">
              <a:ext uri="{FF2B5EF4-FFF2-40B4-BE49-F238E27FC236}">
                <a16:creationId xmlns:a16="http://schemas.microsoft.com/office/drawing/2014/main" id="{D411F1F6-12EC-4433-95C1-125694E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1524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$150-$500</a:t>
            </a:r>
          </a:p>
        </p:txBody>
      </p:sp>
      <p:sp>
        <p:nvSpPr>
          <p:cNvPr id="13" name="pitr-small-medium-compute-paid-email-if-otp-volume-grows-backup-storage-">
            <a:extLst xmlns:a="http://schemas.openxmlformats.org/drawingml/2006/main">
              <a:ext uri="{FF2B5EF4-FFF2-40B4-BE49-F238E27FC236}">
                <a16:creationId xmlns:a16="http://schemas.microsoft.com/office/drawing/2014/main" id="{7EDE18D3-4DF1-45B8-8B15-8212C25F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PITR, Small/Medium compute, paid email if OTP volume grows, backup storage.</a:t>
            </a:r>
          </a:p>
        </p:txBody>
      </p:sp>
      <p:sp>
        <p:nvSpPr>
          <p:cNvPr id="14" name="base-case-y3">
            <a:extLst xmlns:a="http://schemas.openxmlformats.org/drawingml/2006/main">
              <a:ext uri="{FF2B5EF4-FFF2-40B4-BE49-F238E27FC236}">
                <a16:creationId xmlns:a16="http://schemas.microsoft.com/office/drawing/2014/main" id="{F0D0805D-712B-412D-8A09-B4CA692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Base-case Y3</a:t>
            </a:r>
          </a:p>
        </p:txBody>
      </p:sp>
      <p:sp>
        <p:nvSpPr>
          <p:cNvPr id="15" name="-500-2k">
            <a:extLst xmlns:a="http://schemas.openxmlformats.org/drawingml/2006/main">
              <a:ext uri="{FF2B5EF4-FFF2-40B4-BE49-F238E27FC236}">
                <a16:creationId xmlns:a16="http://schemas.microsoft.com/office/drawing/2014/main" id="{F62281CA-4AA9-4B87-8D92-2AF1588D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524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$500-$2k</a:t>
            </a:r>
          </a:p>
        </p:txBody>
      </p:sp>
      <p:sp>
        <p:nvSpPr>
          <p:cNvPr id="16" name="around-100k-mau-compute-storage-egress-posthog-email-begin-to-matter-still-manageable-">
            <a:extLst xmlns:a="http://schemas.openxmlformats.org/drawingml/2006/main">
              <a:ext uri="{FF2B5EF4-FFF2-40B4-BE49-F238E27FC236}">
                <a16:creationId xmlns:a16="http://schemas.microsoft.com/office/drawing/2014/main" id="{F77AC166-26A1-4A43-8277-34AA1331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Around 100k MAU: compute/storage/egress/PostHog/email begin to matter, still manageable.</a:t>
            </a:r>
          </a:p>
        </p:txBody>
      </p:sp>
      <p:sp>
        <p:nvSpPr>
          <p:cNvPr id="17" name="upside-y3">
            <a:extLst xmlns:a="http://schemas.openxmlformats.org/drawingml/2006/main">
              <a:ext uri="{FF2B5EF4-FFF2-40B4-BE49-F238E27FC236}">
                <a16:creationId xmlns:a16="http://schemas.microsoft.com/office/drawing/2014/main" id="{392CC541-C1A9-40FD-9472-5C818F62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Upside Y3</a:t>
            </a:r>
          </a:p>
        </p:txBody>
      </p:sp>
      <p:sp>
        <p:nvSpPr>
          <p:cNvPr id="18" name="-5k-25k-">
            <a:extLst xmlns:a="http://schemas.openxmlformats.org/drawingml/2006/main">
              <a:ext uri="{FF2B5EF4-FFF2-40B4-BE49-F238E27FC236}">
                <a16:creationId xmlns:a16="http://schemas.microsoft.com/office/drawing/2014/main" id="{F6FC6BC1-40EA-4EC4-AD91-1F1BBE58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1524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$5k-$25k+</a:t>
            </a:r>
          </a:p>
        </p:txBody>
      </p:sp>
      <p:sp>
        <p:nvSpPr>
          <p:cNvPr id="19" name="around-900k-mau-dedicated-compute-replicas-media-pipeline-analytics-export-costs-">
            <a:extLst xmlns:a="http://schemas.openxmlformats.org/drawingml/2006/main">
              <a:ext uri="{FF2B5EF4-FFF2-40B4-BE49-F238E27FC236}">
                <a16:creationId xmlns:a16="http://schemas.microsoft.com/office/drawing/2014/main" id="{790FD5A1-0856-4DB8-9465-EF716CC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Around 900k MAU: dedicated compute, replicas, media pipeline, analytics/export costs.</a:t>
            </a:r>
          </a:p>
        </p:txBody>
      </p:sp>
      <p:sp>
        <p:nvSpPr>
          <p:cNvPr id="20" name="enterprise-global">
            <a:extLst xmlns:a="http://schemas.openxmlformats.org/drawingml/2006/main">
              <a:ext uri="{FF2B5EF4-FFF2-40B4-BE49-F238E27FC236}">
                <a16:creationId xmlns:a16="http://schemas.microsoft.com/office/drawing/2014/main" id="{09B0C13B-FAA5-4437-B43C-9C4965F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619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Enterprise/global</a:t>
            </a:r>
          </a:p>
        </p:txBody>
      </p:sp>
      <p:sp>
        <p:nvSpPr>
          <p:cNvPr id="21" name="custom">
            <a:extLst xmlns:a="http://schemas.openxmlformats.org/drawingml/2006/main">
              <a:ext uri="{FF2B5EF4-FFF2-40B4-BE49-F238E27FC236}">
                <a16:creationId xmlns:a16="http://schemas.microsoft.com/office/drawing/2014/main" id="{1396A302-15CA-4018-A7C6-BA00665D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24400"/>
            <a:ext cx="1524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custom</a:t>
            </a:r>
          </a:p>
        </p:txBody>
      </p:sp>
      <p:sp>
        <p:nvSpPr>
          <p:cNvPr id="22" name="contracted-support-slos-regional-strategy-compliance-support-console-data-warehouse-">
            <a:extLst xmlns:a="http://schemas.openxmlformats.org/drawingml/2006/main">
              <a:ext uri="{FF2B5EF4-FFF2-40B4-BE49-F238E27FC236}">
                <a16:creationId xmlns:a16="http://schemas.microsoft.com/office/drawing/2014/main" id="{0C822563-AFE5-4A8F-ABA0-98BBD834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6191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6F5"/>
          </a:solidFill>
          <a:ln xmlns:a="http://schemas.openxmlformats.org/drawingml/2006/main" w="9525">
            <a:solidFill>
              <a:srgbClr val="D8E1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Contracted support, SLOs, regional strategy, compliance, support console, data warehouse.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9033A-1C75-46BE-AFCA-54754DE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Interpretation: cost does not kill the plan at base-case scale. The risk is letting media/analytics/email usage grow without unit economics and spend alerts.</a:t>
            </a:r>
          </a:p>
        </p:txBody>
      </p:sp>
    </p:spTree>
    <p:extLst>
      <p:ext uri="{BB962C8B-B14F-4D97-AF65-F5344CB8AC3E}">
        <p14:creationId xmlns:p14="http://schemas.microsoft.com/office/powerpoint/2010/main" val="14815496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12F0BA9F-6977-4A03-B1AE-F5A71BF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43A2-46A2-449B-ADD7-ED3FEA2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Recommendations before widening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2A24F-C41D-4701-B680-A38D2C7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Keep the stack managed, but put guardrails where success gets expensive.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6F539-7025-4F5B-974C-2FFD2EB7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bullet-dot">
            <a:extLst xmlns:a="http://schemas.openxmlformats.org/drawingml/2006/main">
              <a:ext uri="{FF2B5EF4-FFF2-40B4-BE49-F238E27FC236}">
                <a16:creationId xmlns:a16="http://schemas.microsoft.com/office/drawing/2014/main" id="{BB1D0069-8C6F-4B51-AC96-2AD341C8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2F4DD-0CC3-45CC-9BAB-BA2BF17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Close the remaining launch gates: DR/PITR proof, Crashlytics device proof, App Links device proof, and prod Brevo secret cleanup.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DA88AC8A-3BD0-4AF8-806D-673406CB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B4748-876E-4A00-AA36-169B7DB7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Add a weekly provider dashboard: Supabase MAU/storage/egress/CPU, OTP sends, fallback sends, PostHog events, crash-free users.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4B1709EC-9875-4BE4-8A29-97EBADF6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21BE2-4706-47B1-AA80-5E0768BE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Define cost per active trip and cost per paying user before TripReel/action-cam; do not ship unlimited media without fair-use controls.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9264560D-693A-4AF4-BC91-3CB0405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CA820-4DF3-46D3-B6BE-A1836695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Add Storage object-byte backup/replication; Supabase database backups do not cover object bytes.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E71910C3-FB8C-4CE2-8D3B-94BDED36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D1906-6995-4E98-A172-34434909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At 50k-100k MAU, review Supabase compute and read-replica need; at 250k+ MAU, negotiate support/SLO path.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F67413C4-0E54-4A11-B404-242836D6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B4D"/>
          </a:solidFill>
          <a:ln xmlns:a="http://schemas.openxmlformats.org/drawingml/2006/main" w="0">
            <a:solidFill>
              <a:srgbClr val="FF5B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9A2D7-12F2-4AD2-B961-F56B0115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provider adapters thin: email, FX, analytics, push, media processing. Supabase remains the deliberate deep dependency.</a:t>
            </a:r>
          </a:p>
        </p:txBody>
      </p:sp>
    </p:spTree>
    <p:extLst>
      <p:ext uri="{BB962C8B-B14F-4D97-AF65-F5344CB8AC3E}">
        <p14:creationId xmlns:p14="http://schemas.microsoft.com/office/powerpoint/2010/main" val="14465641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rail">
            <a:extLst xmlns:a="http://schemas.openxmlformats.org/drawingml/2006/main">
              <a:ext uri="{FF2B5EF4-FFF2-40B4-BE49-F238E27FC236}">
                <a16:creationId xmlns:a16="http://schemas.microsoft.com/office/drawing/2014/main" id="{643CDD78-C842-4AB5-9172-CBE4736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3BBC7-EC67-4F40-BECD-DAE3FC1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Sources and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532DC-2368-48A3-A5A8-1225EE30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37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377"/>
                </a:solidFill>
                <a:latin typeface="Aptos"/>
                <a:ea typeface="Aptos"/>
                <a:cs typeface="Aptos"/>
              </a:rPr>
              <a:t>Numbers are directional and should be refreshed before investor or budget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676E7-FA66-4519-8A71-9E3B3F9E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8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181"/>
                </a:solidFill>
                <a:latin typeface="Aptos"/>
                <a:ea typeface="Aptos"/>
                <a:cs typeface="Aptos"/>
              </a:rPr>
              <a:t>Vamo dependency + scale map</a:t>
            </a:r>
          </a:p>
        </p:txBody>
      </p:sp>
      <p:sp>
        <p:nvSpPr>
          <p:cNvPr id="5" name="bullet-dot">
            <a:extLst xmlns:a="http://schemas.openxmlformats.org/drawingml/2006/main">
              <a:ext uri="{FF2B5EF4-FFF2-40B4-BE49-F238E27FC236}">
                <a16:creationId xmlns:a16="http://schemas.microsoft.com/office/drawing/2014/main" id="{17DF8E3D-7D22-49F8-97D7-628342D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25FAE-DAE2-4FF5-858B-F221244C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Repo: docs/DEPENDENCIES.md, docs/LAUNCH_GATES.md, docs/DR_RUNBOOK.md, docs/OBSERVABILITY.md.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A839811B-0F8D-4A98-AC58-71BCB88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033CF-AE35-4482-A8EA-B099D919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Business inputs: Vamo_Business_Plan.docx and Vamo_Financial_Model.xlsx.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AD8FA786-283B-4E57-A138-FEE557F4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16A9F-6D2F-480D-9419-328BF258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Supabase pricing: Pro $25/mo, 100k MAU included, compute tiers; read replicas and PITR docs.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01F09043-7080-4064-990C-46ACAA4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93C7B-9C60-4CE4-BFE8-3FEB82DD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Vercel Pro docs: $20/mo, monthly credit, 1 TB Fast Data Transfer, 10M Edge Requests included.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A0FF029D-8422-483C-BC21-3B8D75CE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076F8-EEBA-4462-A31F-2DA1BB9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Resend pricing: Free 3k emails/mo, Pro $20/mo for 50k; Brevo free: 300 emails/day.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2478C3C2-4E5A-4C7E-B6DF-CC5EE14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7803F-F445-4E0D-A99E-69B91347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PostHog pricing: first 1M product analytics events/mo free, usage-based after.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507D94DB-9F9B-47FF-BA28-41011FEF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4287A-8C96-4B03-8C7F-43C11306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Firebase Crashlytics: no cost; FCM/Firebase pricing page for Google Cloud-backed billing context.</a:t>
            </a:r>
          </a:p>
        </p:txBody>
      </p:sp>
      <p:sp>
        <p:nvSpPr>
          <p:cNvPr id="19" name="bullet-dot">
            <a:extLst xmlns:a="http://schemas.openxmlformats.org/drawingml/2006/main">
              <a:ext uri="{FF2B5EF4-FFF2-40B4-BE49-F238E27FC236}">
                <a16:creationId xmlns:a16="http://schemas.microsoft.com/office/drawing/2014/main" id="{9E1796BB-F7D2-4CF0-91A8-FE1A672D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377"/>
          </a:solidFill>
          <a:ln xmlns:a="http://schemas.openxmlformats.org/drawingml/2006/main" w="0">
            <a:solidFill>
              <a:srgbClr val="0D73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654EC-13C7-4A77-B7C3-0B364102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exchangerate.host pricing: free 100 requests/mo; paid tiers from 10k requests/mo.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47D34-AAE8-41B4-99D7-F968BA4C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B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5B4D"/>
                </a:solidFill>
                <a:latin typeface="Aptos"/>
                <a:ea typeface="Aptos"/>
                <a:cs typeface="Aptos"/>
              </a:rPr>
              <a:t>Capacity caveat: user counts are product/model targets, not guaranteed platform limits. Real capacity depends on trip size, media volume, sync frequency, query plans, device behavior, and provider quotas.</a:t>
            </a:r>
          </a:p>
        </p:txBody>
      </p:sp>
    </p:spTree>
    <p:extLst>
      <p:ext uri="{BB962C8B-B14F-4D97-AF65-F5344CB8AC3E}">
        <p14:creationId xmlns:p14="http://schemas.microsoft.com/office/powerpoint/2010/main" val="1560427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2026-06-20T15:29:43.6560000Z</dcterms:created>
  <dcterms:modified xsi:type="dcterms:W3CDTF">2026-06-20T15:29:43.6560000Z</dcterms:modified>
</coreProperties>
</file>