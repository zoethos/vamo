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6a1722a0d64503" /><Relationship Type="http://schemas.openxmlformats.org/officeDocument/2006/relationships/extended-properties" Target="/docProps/app.xml" Id="Rf255ba795bdc47f8" /><Relationship Type="http://schemas.openxmlformats.org/officeDocument/2006/relationships/officeDocument" Target="/ppt/presentation.xml" Id="Rca9fd0392c3f4f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51a672034f4cc4"/>
  </p:sldMasterIdLst>
  <p:notesMasterIdLst>
    <p:notesMasterId xmlns:r="http://schemas.openxmlformats.org/officeDocument/2006/relationships" r:id="R00e111b3c0b94f48"/>
  </p:notesMasterIdLst>
  <p:sldIdLst>
    <p:sldId xmlns:r="http://schemas.openxmlformats.org/officeDocument/2006/relationships" id="256" r:id="Rd0df8fd4873a443c"/>
    <p:sldId xmlns:r="http://schemas.openxmlformats.org/officeDocument/2006/relationships" id="257" r:id="R2a41e91a4cdd4755"/>
    <p:sldId xmlns:r="http://schemas.openxmlformats.org/officeDocument/2006/relationships" id="258" r:id="Re8be3b4f3740435f"/>
    <p:sldId xmlns:r="http://schemas.openxmlformats.org/officeDocument/2006/relationships" id="259" r:id="Rd4c03b059f334f97"/>
    <p:sldId xmlns:r="http://schemas.openxmlformats.org/officeDocument/2006/relationships" id="260" r:id="R67e18222bc394eef"/>
    <p:sldId xmlns:r="http://schemas.openxmlformats.org/officeDocument/2006/relationships" id="261" r:id="R88adff4b21134dd4"/>
    <p:sldId xmlns:r="http://schemas.openxmlformats.org/officeDocument/2006/relationships" id="262" r:id="R35cd849b969940eb"/>
    <p:sldId xmlns:r="http://schemas.openxmlformats.org/officeDocument/2006/relationships" id="263" r:id="R9b404ea0aa96434d"/>
    <p:sldId xmlns:r="http://schemas.openxmlformats.org/officeDocument/2006/relationships" id="264" r:id="R1721212fbec34f15"/>
    <p:sldId xmlns:r="http://schemas.openxmlformats.org/officeDocument/2006/relationships" id="265" r:id="R248a775374784724"/>
    <p:sldId xmlns:r="http://schemas.openxmlformats.org/officeDocument/2006/relationships" id="266" r:id="Rd057999ce4ed48d8"/>
    <p:sldId xmlns:r="http://schemas.openxmlformats.org/officeDocument/2006/relationships" id="267" r:id="R1cc57566f5e7453c"/>
    <p:sldId xmlns:r="http://schemas.openxmlformats.org/officeDocument/2006/relationships" id="268" r:id="R7b31c0ba0f0f43f0"/>
    <p:sldId xmlns:r="http://schemas.openxmlformats.org/officeDocument/2006/relationships" id="269" r:id="R08313c9347d24425"/>
    <p:sldId xmlns:r="http://schemas.openxmlformats.org/officeDocument/2006/relationships" id="270" r:id="R8d2852337e0d4a7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cd2d45d0fa4821" /><Relationship Type="http://schemas.openxmlformats.org/officeDocument/2006/relationships/slideMaster" Target="/ppt/slideMasters/slideMaster1.xml" Id="R5c51a672034f4cc4" /><Relationship Type="http://schemas.openxmlformats.org/officeDocument/2006/relationships/notesMaster" Target="/ppt/notesMasters/notesMaster1.xml" Id="R00e111b3c0b94f48" /><Relationship Type="http://schemas.openxmlformats.org/officeDocument/2006/relationships/presProps" Target="/ppt/presProps.xml" Id="R358d828b9e2e4e0d" /><Relationship Type="http://schemas.openxmlformats.org/officeDocument/2006/relationships/tableStyles" Target="/ppt/tableStyles.xml" Id="Rd6c3069470114ac9" /><Relationship Type="http://schemas.openxmlformats.org/officeDocument/2006/relationships/slide" Target="/ppt/slides/slide1.xml" Id="Rd0df8fd4873a443c" /><Relationship Type="http://schemas.openxmlformats.org/officeDocument/2006/relationships/slide" Target="/ppt/slides/slide2.xml" Id="R2a41e91a4cdd4755" /><Relationship Type="http://schemas.openxmlformats.org/officeDocument/2006/relationships/slide" Target="/ppt/slides/slide3.xml" Id="Re8be3b4f3740435f" /><Relationship Type="http://schemas.openxmlformats.org/officeDocument/2006/relationships/slide" Target="/ppt/slides/slide4.xml" Id="Rd4c03b059f334f97" /><Relationship Type="http://schemas.openxmlformats.org/officeDocument/2006/relationships/slide" Target="/ppt/slides/slide5.xml" Id="R67e18222bc394eef" /><Relationship Type="http://schemas.openxmlformats.org/officeDocument/2006/relationships/slide" Target="/ppt/slides/slide6.xml" Id="R88adff4b21134dd4" /><Relationship Type="http://schemas.openxmlformats.org/officeDocument/2006/relationships/slide" Target="/ppt/slides/slide7.xml" Id="R35cd849b969940eb" /><Relationship Type="http://schemas.openxmlformats.org/officeDocument/2006/relationships/slide" Target="/ppt/slides/slide8.xml" Id="R9b404ea0aa96434d" /><Relationship Type="http://schemas.openxmlformats.org/officeDocument/2006/relationships/slide" Target="/ppt/slides/slide9.xml" Id="R1721212fbec34f15" /><Relationship Type="http://schemas.openxmlformats.org/officeDocument/2006/relationships/slide" Target="/ppt/slides/slide10.xml" Id="R248a775374784724" /><Relationship Type="http://schemas.openxmlformats.org/officeDocument/2006/relationships/slide" Target="/ppt/slides/slide11.xml" Id="Rd057999ce4ed48d8" /><Relationship Type="http://schemas.openxmlformats.org/officeDocument/2006/relationships/slide" Target="/ppt/slides/slide12.xml" Id="R1cc57566f5e7453c" /><Relationship Type="http://schemas.openxmlformats.org/officeDocument/2006/relationships/slide" Target="/ppt/slides/slide13.xml" Id="R7b31c0ba0f0f43f0" /><Relationship Type="http://schemas.openxmlformats.org/officeDocument/2006/relationships/slide" Target="/ppt/slides/slide14.xml" Id="R08313c9347d24425" /><Relationship Type="http://schemas.openxmlformats.org/officeDocument/2006/relationships/slide" Target="/ppt/slides/slide15.xml" Id="R8d2852337e0d4a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d6b2dc5f3644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4666d6c7a449f5" /><Relationship Type="http://schemas.openxmlformats.org/officeDocument/2006/relationships/notesMaster" Target="/ppt/notesMasters/notesMaster1.xml" Id="R9286ca1cec7d45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44663a99bb451f" /><Relationship Type="http://schemas.openxmlformats.org/officeDocument/2006/relationships/notesMaster" Target="/ppt/notesMasters/notesMaster1.xml" Id="Ra273345d580a4fa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8d6f52025a4043" /><Relationship Type="http://schemas.openxmlformats.org/officeDocument/2006/relationships/notesMaster" Target="/ppt/notesMasters/notesMaster1.xml" Id="Rcea8f5112e3742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d63e1693114af6" /><Relationship Type="http://schemas.openxmlformats.org/officeDocument/2006/relationships/notesMaster" Target="/ppt/notesMasters/notesMaster1.xml" Id="R421019d169744a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6ddae5e2ad495f" /><Relationship Type="http://schemas.openxmlformats.org/officeDocument/2006/relationships/notesMaster" Target="/ppt/notesMasters/notesMaster1.xml" Id="Rb05814c7134040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4421efba8944d3" /><Relationship Type="http://schemas.openxmlformats.org/officeDocument/2006/relationships/notesMaster" Target="/ppt/notesMasters/notesMaster1.xml" Id="R34f0cc89d00c48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c6b12f8be64cc7" /><Relationship Type="http://schemas.openxmlformats.org/officeDocument/2006/relationships/notesMaster" Target="/ppt/notesMasters/notesMaster1.xml" Id="R9dc06afd0e2b46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0e40f2d1e7499d" /><Relationship Type="http://schemas.openxmlformats.org/officeDocument/2006/relationships/notesMaster" Target="/ppt/notesMasters/notesMaster1.xml" Id="Rdaffb903bcb341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4762201ba943ab" /><Relationship Type="http://schemas.openxmlformats.org/officeDocument/2006/relationships/notesMaster" Target="/ppt/notesMasters/notesMaster1.xml" Id="R9bdff1886cb3477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2e6fbff90454b81" /><Relationship Type="http://schemas.openxmlformats.org/officeDocument/2006/relationships/notesMaster" Target="/ppt/notesMasters/notesMaster1.xml" Id="Rfc0b8d1d9b22457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85d378c1b5e4e76" /><Relationship Type="http://schemas.openxmlformats.org/officeDocument/2006/relationships/notesMaster" Target="/ppt/notesMasters/notesMaster1.xml" Id="Rfbe7057cb0644a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3f2e072790048f3" /><Relationship Type="http://schemas.openxmlformats.org/officeDocument/2006/relationships/notesMaster" Target="/ppt/notesMasters/notesMaster1.xml" Id="R6ae849dc935844e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36bbdb4807645b9" /><Relationship Type="http://schemas.openxmlformats.org/officeDocument/2006/relationships/notesMaster" Target="/ppt/notesMasters/notesMaster1.xml" Id="Re7a4e21e9e3b4cf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dcd7f4842f24968" /><Relationship Type="http://schemas.openxmlformats.org/officeDocument/2006/relationships/notesMaster" Target="/ppt/notesMasters/notesMaster1.xml" Id="Rf1a59e6db86548f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9beda337dd94c9a" /><Relationship Type="http://schemas.openxmlformats.org/officeDocument/2006/relationships/notesMaster" Target="/ppt/notesMasters/notesMaster1.xml" Id="R3d10aa683ed242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4d551162be46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86c24cf0f2412f" /><Relationship Type="http://schemas.openxmlformats.org/officeDocument/2006/relationships/slideLayout" Target="/ppt/slideLayouts/slideLayout1.xml" Id="Re5c9032e074b43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c9032e074b43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548398f75b4fcb" /><Relationship Type="http://schemas.openxmlformats.org/officeDocument/2006/relationships/notesSlide" Target="/ppt/notesSlides/notesSlide1.xml" Id="Rd80f386900f440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8243d194df4f89" /><Relationship Type="http://schemas.openxmlformats.org/officeDocument/2006/relationships/notesSlide" Target="/ppt/notesSlides/notesSlide2.xml" Id="R3aad9dd27ab74e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463f04c1d041a8" /><Relationship Type="http://schemas.openxmlformats.org/officeDocument/2006/relationships/notesSlide" Target="/ppt/notesSlides/notesSlide3.xml" Id="Rab67c6d4d05e45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c95bc699142d7" /><Relationship Type="http://schemas.openxmlformats.org/officeDocument/2006/relationships/notesSlide" Target="/ppt/notesSlides/notesSlide4.xml" Id="R7a5b9d0e58e54b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e1df089044778" /><Relationship Type="http://schemas.openxmlformats.org/officeDocument/2006/relationships/notesSlide" Target="/ppt/notesSlides/notesSlide5.xml" Id="Rf7191621dd9547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a68232589e4570" /><Relationship Type="http://schemas.openxmlformats.org/officeDocument/2006/relationships/notesSlide" Target="/ppt/notesSlides/notesSlide6.xml" Id="R5e25f3e31fc04a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6ce1b15234196" /><Relationship Type="http://schemas.openxmlformats.org/officeDocument/2006/relationships/notesSlide" Target="/ppt/notesSlides/notesSlide7.xml" Id="R0262481c343447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bd3e7bc434f3f" /><Relationship Type="http://schemas.openxmlformats.org/officeDocument/2006/relationships/notesSlide" Target="/ppt/notesSlides/notesSlide8.xml" Id="R02bcf3e0aea341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0e95137104493" /><Relationship Type="http://schemas.openxmlformats.org/officeDocument/2006/relationships/notesSlide" Target="/ppt/notesSlides/notesSlide9.xml" Id="R31ba5a2de3724e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9e65cec334137" /><Relationship Type="http://schemas.openxmlformats.org/officeDocument/2006/relationships/notesSlide" Target="/ppt/notesSlides/notesSlide10.xml" Id="R8d2e16f6e13f48b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97baf7de344c9" /><Relationship Type="http://schemas.openxmlformats.org/officeDocument/2006/relationships/notesSlide" Target="/ppt/notesSlides/notesSlide11.xml" Id="Rba1d109b95d84c6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e494a156a4486" /><Relationship Type="http://schemas.openxmlformats.org/officeDocument/2006/relationships/notesSlide" Target="/ppt/notesSlides/notesSlide12.xml" Id="Radf3063aa8a64b6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e6f584a1b043c0" /><Relationship Type="http://schemas.openxmlformats.org/officeDocument/2006/relationships/notesSlide" Target="/ppt/notesSlides/notesSlide13.xml" Id="R6ce7f4883d47457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39cc9b06f24f59" /><Relationship Type="http://schemas.openxmlformats.org/officeDocument/2006/relationships/notesSlide" Target="/ppt/notesSlides/notesSlide14.xml" Id="R2ae0ab254b09404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51f95e3b0a4a4f" /><Relationship Type="http://schemas.openxmlformats.org/officeDocument/2006/relationships/notesSlide" Target="/ppt/notesSlides/notesSlide15.xml" Id="Raed396ae0f5a45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2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55FAC2-25B9-4596-AB3D-D318D472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2F35"/>
          </a:solidFill>
          <a:ln xmlns:a="http://schemas.openxmlformats.org/drawingml/2006/main" w="0">
            <a:solidFill>
              <a:srgbClr val="082F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406F4A-1EDF-4C20-BAF9-AA6290C5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C6FF00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C6FF00"/>
                </a:solidFill>
                <a:latin typeface="Aptos Display"/>
                <a:ea typeface="Aptos Display"/>
                <a:cs typeface="Aptos Display"/>
              </a:rPr>
              <a:t>Vamo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867BE8-0110-4F6F-94D8-47EADD23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Dependency and scale 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752667-049C-4205-9F3F-46E7D9FE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8096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9EEE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9EEE9"/>
                </a:solidFill>
                <a:latin typeface="Aptos"/>
                <a:ea typeface="Aptos"/>
                <a:cs typeface="Aptos"/>
              </a:rPr>
              <a:t>What each provider does, what breaks if it fails, and how the stack grows from closed beta to a global business.</a:t>
            </a:r>
          </a:p>
        </p:txBody>
      </p:sp>
      <p:sp>
        <p:nvSpPr>
          <p:cNvPr id="5" name="base-case-106k-mau-4-4k-payers-by-m36">
            <a:extLst xmlns:a="http://schemas.openxmlformats.org/drawingml/2006/main">
              <a:ext uri="{FF2B5EF4-FFF2-40B4-BE49-F238E27FC236}">
                <a16:creationId xmlns:a16="http://schemas.microsoft.com/office/drawing/2014/main" id="{05FB7B51-AE47-46F4-9887-8327CD7E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26670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5F6F3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Base case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106k MAU / 4.4k payers by m36</a:t>
            </a:r>
          </a:p>
        </p:txBody>
      </p:sp>
      <p:sp>
        <p:nvSpPr>
          <p:cNvPr id="6" name="upside-900k-mau-52k-payers-by-m36">
            <a:extLst xmlns:a="http://schemas.openxmlformats.org/drawingml/2006/main">
              <a:ext uri="{FF2B5EF4-FFF2-40B4-BE49-F238E27FC236}">
                <a16:creationId xmlns:a16="http://schemas.microsoft.com/office/drawing/2014/main" id="{A607447C-D463-4686-8F85-3D7F87DC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000500"/>
            <a:ext cx="2857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2FFD1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Upside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900k MAU / 52k payers by m36</a:t>
            </a:r>
          </a:p>
        </p:txBody>
      </p:sp>
      <p:sp>
        <p:nvSpPr>
          <p:cNvPr id="7" name="current-posture-managed-stack-eu-first-offline-first">
            <a:extLst xmlns:a="http://schemas.openxmlformats.org/drawingml/2006/main">
              <a:ext uri="{FF2B5EF4-FFF2-40B4-BE49-F238E27FC236}">
                <a16:creationId xmlns:a16="http://schemas.microsoft.com/office/drawing/2014/main" id="{58435D4B-E031-4874-9D09-F3DF2E50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E9E6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Current posture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managed stack, EU-first, offline-first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0A0BF3-FAAC-49D0-B8AA-AFA679FA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8D5C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8D5CF"/>
                </a:solidFill>
                <a:latin typeface="Aptos"/>
                <a:ea typeface="Aptos"/>
                <a:cs typeface="Aptos"/>
              </a:rPr>
              <a:t>Prepared from repo docs, Vamo business plan/model, and current provider pricing pages. June 20, 2026.</a:t>
            </a:r>
          </a:p>
        </p:txBody>
      </p:sp>
    </p:spTree>
    <p:extLst>
      <p:ext uri="{BB962C8B-B14F-4D97-AF65-F5344CB8AC3E}">
        <p14:creationId xmlns:p14="http://schemas.microsoft.com/office/powerpoint/2010/main" val="1212948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449ED627-6691-407F-84E1-C70FA136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B2A26F-9B1D-4691-B34D-528E0C8A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short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A00625-BB51-429F-A6E8-E75FBDE5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Current stack is right for beta and base-case; enterprise scale needs deliberate steps.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3BD588-544C-4BD5-9BE1-4E571CB7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10k-100k-mau-comfort-zone-with-current-architecture-plus-pro-basics">
            <a:extLst xmlns:a="http://schemas.openxmlformats.org/drawingml/2006/main">
              <a:ext uri="{FF2B5EF4-FFF2-40B4-BE49-F238E27FC236}">
                <a16:creationId xmlns:a16="http://schemas.microsoft.com/office/drawing/2014/main" id="{96A1964F-19FC-4A8B-BEC6-76CDE65E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762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5F6F3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10k-100k MAU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Comfort zone with current architecture plus Pro basics</a:t>
            </a:r>
          </a:p>
        </p:txBody>
      </p:sp>
      <p:sp>
        <p:nvSpPr>
          <p:cNvPr id="6" name="100k-1m-mau-needs-compute-storage-email-analytics-read-scaling">
            <a:extLst xmlns:a="http://schemas.openxmlformats.org/drawingml/2006/main">
              <a:ext uri="{FF2B5EF4-FFF2-40B4-BE49-F238E27FC236}">
                <a16:creationId xmlns:a16="http://schemas.microsoft.com/office/drawing/2014/main" id="{4A3F9509-460B-43AE-AA89-71537F51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524000"/>
            <a:ext cx="2952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2FFD1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100k-1M MAU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Needs compute, storage, email, analytics, read scaling</a:t>
            </a:r>
          </a:p>
        </p:txBody>
      </p:sp>
      <p:sp>
        <p:nvSpPr>
          <p:cNvPr id="7" name="1m-mau-enterprise-plan-replicas-media-pipeline-dr-support-spend-ops">
            <a:extLst xmlns:a="http://schemas.openxmlformats.org/drawingml/2006/main">
              <a:ext uri="{FF2B5EF4-FFF2-40B4-BE49-F238E27FC236}">
                <a16:creationId xmlns:a16="http://schemas.microsoft.com/office/drawing/2014/main" id="{C2FE2E2E-20E4-47A7-ABD2-D3908CEC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524000"/>
            <a:ext cx="3333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E9E6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1M+ MAU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Enterprise plan: replicas, media pipeline, DR, support, spend ops</a:t>
            </a:r>
          </a:p>
        </p:txBody>
      </p:sp>
      <p:sp>
        <p:nvSpPr>
          <p:cNvPr id="8" name="bullet-dot">
            <a:extLst xmlns:a="http://schemas.openxmlformats.org/drawingml/2006/main">
              <a:ext uri="{FF2B5EF4-FFF2-40B4-BE49-F238E27FC236}">
                <a16:creationId xmlns:a16="http://schemas.microsoft.com/office/drawing/2014/main" id="{2720F5D0-C3F8-4B0E-8EE0-E2577404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766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EAE80-4140-4F87-9E58-FC4D7B8D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00400"/>
            <a:ext cx="973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product is offline-first, so transient backend latency/outage is survivable for already-signed-in users.</a:t>
            </a:r>
          </a:p>
        </p:txBody>
      </p:sp>
      <p:sp>
        <p:nvSpPr>
          <p:cNvPr id="10" name="bullet-dot">
            <a:extLst xmlns:a="http://schemas.openxmlformats.org/drawingml/2006/main">
              <a:ext uri="{FF2B5EF4-FFF2-40B4-BE49-F238E27FC236}">
                <a16:creationId xmlns:a16="http://schemas.microsoft.com/office/drawing/2014/main" id="{E3133196-2333-4268-B4E1-290990D2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48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07D2AE-26E7-4468-958D-01940D08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71875"/>
            <a:ext cx="973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Supabase is the main concentration risk: DB, auth, storage, realtime, and Edge Functions are all one vendor.</a:t>
            </a:r>
          </a:p>
        </p:txBody>
      </p:sp>
      <p:sp>
        <p:nvSpPr>
          <p:cNvPr id="12" name="bullet-dot">
            <a:extLst xmlns:a="http://schemas.openxmlformats.org/drawingml/2006/main">
              <a:ext uri="{FF2B5EF4-FFF2-40B4-BE49-F238E27FC236}">
                <a16:creationId xmlns:a16="http://schemas.microsoft.com/office/drawing/2014/main" id="{FCBF1087-338C-408D-A28C-80145239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95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B6881C-A055-4D7F-BFA2-988B5536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973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Resend now turns email from single-provider Brevo risk into a primary/fallback path.</a:t>
            </a:r>
          </a:p>
        </p:txBody>
      </p:sp>
      <p:sp>
        <p:nvSpPr>
          <p:cNvPr id="14" name="bullet-dot">
            <a:extLst xmlns:a="http://schemas.openxmlformats.org/drawingml/2006/main">
              <a:ext uri="{FF2B5EF4-FFF2-40B4-BE49-F238E27FC236}">
                <a16:creationId xmlns:a16="http://schemas.microsoft.com/office/drawing/2014/main" id="{1732A98B-5733-4F66-81C5-D8E18BEC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91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3148D3-F0FF-4B99-A9EF-18140FA9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14825"/>
            <a:ext cx="973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first expensive feature will not be bill splitting; it will be media: storage, egress, rendering, and recap generation.</a:t>
            </a:r>
          </a:p>
        </p:txBody>
      </p:sp>
      <p:sp>
        <p:nvSpPr>
          <p:cNvPr id="16" name="bullet-dot">
            <a:extLst xmlns:a="http://schemas.openxmlformats.org/drawingml/2006/main">
              <a:ext uri="{FF2B5EF4-FFF2-40B4-BE49-F238E27FC236}">
                <a16:creationId xmlns:a16="http://schemas.microsoft.com/office/drawing/2014/main" id="{F7530993-487C-43FE-8609-1188E2C4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BC1BDE-74D7-40B7-8DF7-2D171B42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86300"/>
            <a:ext cx="973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right scale path is staged: prove loops, measure cost per active trip, then buy capacity only where the data points.</a:t>
            </a:r>
          </a:p>
        </p:txBody>
      </p:sp>
    </p:spTree>
    <p:extLst>
      <p:ext uri="{BB962C8B-B14F-4D97-AF65-F5344CB8AC3E}">
        <p14:creationId xmlns:p14="http://schemas.microsoft.com/office/powerpoint/2010/main" val="317782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4B9BCE66-AE9D-4B57-96EC-BA1BF1E4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BF8A32-FFAC-4155-8F5D-0E1CAB45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Current dependency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255A9-CBA5-4E89-8432-C86D7618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Editable architecture diagram - what talks to what.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383BF2-EC4D-4F1D-A9F5-B07F9BFC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users-android-testers">
            <a:extLst xmlns:a="http://schemas.openxmlformats.org/drawingml/2006/main">
              <a:ext uri="{FF2B5EF4-FFF2-40B4-BE49-F238E27FC236}">
                <a16:creationId xmlns:a16="http://schemas.microsoft.com/office/drawing/2014/main" id="{2C147CDF-7BDE-4FD1-8E24-641254E3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67050"/>
            <a:ext cx="1428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2FFD1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Users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Android testers</a:t>
            </a:r>
          </a:p>
        </p:txBody>
      </p:sp>
      <p:sp>
        <p:nvSpPr>
          <p:cNvPr id="6" name="flutter-app-vamo-android">
            <a:extLst xmlns:a="http://schemas.openxmlformats.org/drawingml/2006/main">
              <a:ext uri="{FF2B5EF4-FFF2-40B4-BE49-F238E27FC236}">
                <a16:creationId xmlns:a16="http://schemas.microsoft.com/office/drawing/2014/main" id="{42ACF1BA-F6A8-4746-9510-C432DA1E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81300"/>
            <a:ext cx="16383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D737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Flutter app</a:t>
            </a:r>
          </a:p>
          <a:p xmlns:a="http://schemas.openxmlformats.org/drawingml/2006/main">
            <a:pPr algn="ctr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Vamo Android</a:t>
            </a:r>
          </a:p>
        </p:txBody>
      </p:sp>
      <p:sp>
        <p:nvSpPr>
          <p:cNvPr id="7" name="local-drift-db-offline-cache-outbox">
            <a:extLst xmlns:a="http://schemas.openxmlformats.org/drawingml/2006/main">
              <a:ext uri="{FF2B5EF4-FFF2-40B4-BE49-F238E27FC236}">
                <a16:creationId xmlns:a16="http://schemas.microsoft.com/office/drawing/2014/main" id="{B59E518D-AB15-4450-8730-6B008871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00550"/>
            <a:ext cx="16383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8F8FF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Local Drift DB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offline cache + outbox</a:t>
            </a:r>
          </a:p>
        </p:txBody>
      </p:sp>
      <p:sp>
        <p:nvSpPr>
          <p:cNvPr id="8" name="supabase-auth-postgres-rls-storage-realtime-edge-functions">
            <a:extLst xmlns:a="http://schemas.openxmlformats.org/drawingml/2006/main">
              <a:ext uri="{FF2B5EF4-FFF2-40B4-BE49-F238E27FC236}">
                <a16:creationId xmlns:a16="http://schemas.microsoft.com/office/drawing/2014/main" id="{3A6C15A0-2CBF-4D9D-B70A-64116B7E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71750"/>
            <a:ext cx="22860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5F6F3"/>
          </a:solidFill>
          <a:ln xmlns:a="http://schemas.openxmlformats.org/drawingml/2006/main" w="9525">
            <a:solidFill>
              <a:srgbClr val="0D737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Supabase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Auth + Postgres/RLS + Storage + Realtime + Edge Functions</a:t>
            </a:r>
          </a:p>
        </p:txBody>
      </p:sp>
      <p:sp>
        <p:nvSpPr>
          <p:cNvPr id="9" name="vercel-vamo-world-j-preview-assetlinks-dns">
            <a:extLst xmlns:a="http://schemas.openxmlformats.org/drawingml/2006/main">
              <a:ext uri="{FF2B5EF4-FFF2-40B4-BE49-F238E27FC236}">
                <a16:creationId xmlns:a16="http://schemas.microsoft.com/office/drawing/2014/main" id="{4D9C14DD-B44C-4ADA-9718-EFF3D99A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91050"/>
            <a:ext cx="22860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Vercel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vamo.world + /j preview + assetlinks + DNS</a:t>
            </a:r>
          </a:p>
        </p:txBody>
      </p:sp>
      <p:sp>
        <p:nvSpPr>
          <p:cNvPr id="10" name="firebase-fcm-push-crashlytics">
            <a:extLst xmlns:a="http://schemas.openxmlformats.org/drawingml/2006/main">
              <a:ext uri="{FF2B5EF4-FFF2-40B4-BE49-F238E27FC236}">
                <a16:creationId xmlns:a16="http://schemas.microsoft.com/office/drawing/2014/main" id="{6ECE4ED1-7DAB-448C-968E-DC807270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543050"/>
            <a:ext cx="20764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5DF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Firebase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FCM push + Crashlytics</a:t>
            </a:r>
          </a:p>
        </p:txBody>
      </p:sp>
      <p:sp>
        <p:nvSpPr>
          <p:cNvPr id="11" name="brevo-resend-otp-email-primary-fallback">
            <a:extLst xmlns:a="http://schemas.openxmlformats.org/drawingml/2006/main">
              <a:ext uri="{FF2B5EF4-FFF2-40B4-BE49-F238E27FC236}">
                <a16:creationId xmlns:a16="http://schemas.microsoft.com/office/drawing/2014/main" id="{E57CC27E-09FE-4270-8F69-5BCD1D85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24150"/>
            <a:ext cx="20764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E9E6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Brevo -&gt; Resend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OTP email primary + fallback</a:t>
            </a:r>
          </a:p>
        </p:txBody>
      </p:sp>
      <p:sp>
        <p:nvSpPr>
          <p:cNvPr id="12" name="exchangerate-host-market-fx-rates">
            <a:extLst xmlns:a="http://schemas.openxmlformats.org/drawingml/2006/main">
              <a:ext uri="{FF2B5EF4-FFF2-40B4-BE49-F238E27FC236}">
                <a16:creationId xmlns:a16="http://schemas.microsoft.com/office/drawing/2014/main" id="{247DDA8F-B04A-46E2-96FA-5A603B5E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05250"/>
            <a:ext cx="20764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0F7FF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exchangerate.host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market FX rates</a:t>
            </a:r>
          </a:p>
        </p:txBody>
      </p:sp>
      <p:sp>
        <p:nvSpPr>
          <p:cNvPr id="13" name="posthog-eu-product-analytics">
            <a:extLst xmlns:a="http://schemas.openxmlformats.org/drawingml/2006/main">
              <a:ext uri="{FF2B5EF4-FFF2-40B4-BE49-F238E27FC236}">
                <a16:creationId xmlns:a16="http://schemas.microsoft.com/office/drawing/2014/main" id="{C5B2D2B1-5D05-4273-AA08-B4576623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010150"/>
            <a:ext cx="20764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E8F8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PostHog EU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product analytics</a:t>
            </a:r>
          </a:p>
        </p:txBody>
      </p:sp>
      <p:cxnSp>
        <p:nvCxnSpPr>
          <p:cNvPr id="3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2019300" y="3333750"/>
            <a:ext cx="628650" cy="1238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D7377"/>
            </a:solidFill>
            <a:prstDash val="solid"/>
          </a:ln>
        </p:spPr>
      </p:cxnSp>
      <p:cxnSp>
        <p:nvCxnSpPr>
          <p:cNvPr id="37" name=""/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467100" y="3886200"/>
            <a:ext cx="0" cy="5143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17181"/>
            </a:solidFill>
            <a:prstDash val="solid"/>
          </a:ln>
        </p:spPr>
      </p:cxnSp>
      <p:cxnSp>
        <p:nvCxnSpPr>
          <p:cNvPr id="3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4286250" y="3314700"/>
            <a:ext cx="933450" cy="190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D7377"/>
            </a:solidFill>
            <a:prstDash val="solid"/>
          </a:ln>
        </p:spPr>
      </p:cxn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286250" y="3333750"/>
            <a:ext cx="933450" cy="17049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3677C8"/>
            </a:solidFill>
            <a:prstDash val="dash"/>
          </a:ln>
        </p:spPr>
      </p:cxnSp>
      <p:cxnSp>
        <p:nvCxnSpPr>
          <p:cNvPr id="4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7505700" y="1952625"/>
            <a:ext cx="914400" cy="13620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6B44B"/>
            </a:solidFill>
            <a:prstDash val="solid"/>
          </a:ln>
        </p:spPr>
      </p:cxnSp>
      <p:cxnSp>
        <p:nvCxnSpPr>
          <p:cNvPr id="41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7505700" y="3133725"/>
            <a:ext cx="914400" cy="1809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F5B4D"/>
            </a:solidFill>
            <a:prstDash val="solid"/>
          </a:ln>
        </p:spPr>
      </p:cxnSp>
      <p:cxnSp>
        <p:nvCxnSpPr>
          <p:cNvPr id="42" name=""/>
          <p:cNvCxnSpPr>
            <a:stCxn xmlns:a="http://schemas.openxmlformats.org/drawingml/2006/main" id="8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505700" y="3314700"/>
            <a:ext cx="914400" cy="9429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3677C8"/>
            </a:solidFill>
            <a:prstDash val="solid"/>
          </a:ln>
        </p:spPr>
      </p:cxnSp>
      <p:cxnSp>
        <p:nvCxnSpPr>
          <p:cNvPr id="43" name=""/>
          <p:cNvCxnSpPr>
            <a:stCxn xmlns:a="http://schemas.openxmlformats.org/drawingml/2006/main" id="6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286250" y="3333750"/>
            <a:ext cx="4133850" cy="2028825"/>
          </a:xfrm>
          <a:prstGeom xmlns:a="http://schemas.openxmlformats.org/drawingml/2006/main" prst="bentConnector5">
            <a:avLst>
              <a:gd name="adj1" fmla="val 19816"/>
              <a:gd name="adj2" fmla="val 56338"/>
              <a:gd name="adj3" fmla="val 94470"/>
            </a:avLst>
          </a:prstGeom>
          <a:ln xmlns:a="http://schemas.openxmlformats.org/drawingml/2006/main" w="19050">
            <a:solidFill>
              <a:srgbClr val="6A2D6F"/>
            </a:solidFill>
            <a:prstDash val="soli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45A27E-6104-40C3-A39E-62E31226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Trust boundary: Supabase owns identity, server-side money rules, RLS, media metadata, and durable sync. Client is optimistic/offline; server is authoritative.</a:t>
            </a:r>
          </a:p>
        </p:txBody>
      </p:sp>
    </p:spTree>
    <p:extLst>
      <p:ext uri="{BB962C8B-B14F-4D97-AF65-F5344CB8AC3E}">
        <p14:creationId xmlns:p14="http://schemas.microsoft.com/office/powerpoint/2010/main" val="16635803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B450FED1-75BD-4A41-AC2B-910BB4FC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7AC4B1-1252-4573-89DD-45045469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Provider roles and failure posture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F55490-2669-495F-B3E4-E7359985A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T0 blocks sign-in/core sync; T1 degrades a feature; T2 is background.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D2A13-27D5-4E1B-B09F-61CBF0FA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provider">
            <a:extLst xmlns:a="http://schemas.openxmlformats.org/drawingml/2006/main">
              <a:ext uri="{FF2B5EF4-FFF2-40B4-BE49-F238E27FC236}">
                <a16:creationId xmlns:a16="http://schemas.microsoft.com/office/drawing/2014/main" id="{F5FD8C69-9B2F-4E95-BFA0-48079CCE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71600"/>
            <a:ext cx="1428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Provider</a:t>
            </a:r>
          </a:p>
        </p:txBody>
      </p:sp>
      <p:sp>
        <p:nvSpPr>
          <p:cNvPr id="6" name="tier">
            <a:extLst xmlns:a="http://schemas.openxmlformats.org/drawingml/2006/main">
              <a:ext uri="{FF2B5EF4-FFF2-40B4-BE49-F238E27FC236}">
                <a16:creationId xmlns:a16="http://schemas.microsoft.com/office/drawing/2014/main" id="{335DCCE1-A9D9-4E51-AB53-667A6791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371600"/>
            <a:ext cx="6096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Tier</a:t>
            </a:r>
          </a:p>
        </p:txBody>
      </p:sp>
      <p:sp>
        <p:nvSpPr>
          <p:cNvPr id="7" name="purpose">
            <a:extLst xmlns:a="http://schemas.openxmlformats.org/drawingml/2006/main">
              <a:ext uri="{FF2B5EF4-FFF2-40B4-BE49-F238E27FC236}">
                <a16:creationId xmlns:a16="http://schemas.microsoft.com/office/drawing/2014/main" id="{36019EA7-41DE-4600-A15B-F19EF063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371600"/>
            <a:ext cx="22860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Purpose</a:t>
            </a:r>
          </a:p>
        </p:txBody>
      </p:sp>
      <p:sp>
        <p:nvSpPr>
          <p:cNvPr id="8" name="if-it-fails">
            <a:extLst xmlns:a="http://schemas.openxmlformats.org/drawingml/2006/main">
              <a:ext uri="{FF2B5EF4-FFF2-40B4-BE49-F238E27FC236}">
                <a16:creationId xmlns:a16="http://schemas.microsoft.com/office/drawing/2014/main" id="{31152D4D-257D-4998-978C-8DB52C31E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371600"/>
            <a:ext cx="2952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 it fails</a:t>
            </a:r>
          </a:p>
        </p:txBody>
      </p:sp>
      <p:sp>
        <p:nvSpPr>
          <p:cNvPr id="9" name="current-mitigation">
            <a:extLst xmlns:a="http://schemas.openxmlformats.org/drawingml/2006/main">
              <a:ext uri="{FF2B5EF4-FFF2-40B4-BE49-F238E27FC236}">
                <a16:creationId xmlns:a16="http://schemas.microsoft.com/office/drawing/2014/main" id="{144EC16C-9962-4BD6-A1E4-D84D4A7F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371600"/>
            <a:ext cx="26670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Current mitigation</a:t>
            </a:r>
          </a:p>
        </p:txBody>
      </p:sp>
      <p:sp>
        <p:nvSpPr>
          <p:cNvPr id="10" name="supabase">
            <a:extLst xmlns:a="http://schemas.openxmlformats.org/drawingml/2006/main">
              <a:ext uri="{FF2B5EF4-FFF2-40B4-BE49-F238E27FC236}">
                <a16:creationId xmlns:a16="http://schemas.microsoft.com/office/drawing/2014/main" id="{CC047CF7-45DA-4680-945A-6E2120ED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66900"/>
            <a:ext cx="1428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Supabase</a:t>
            </a:r>
          </a:p>
        </p:txBody>
      </p:sp>
      <p:sp>
        <p:nvSpPr>
          <p:cNvPr id="11" name="t0">
            <a:extLst xmlns:a="http://schemas.openxmlformats.org/drawingml/2006/main">
              <a:ext uri="{FF2B5EF4-FFF2-40B4-BE49-F238E27FC236}">
                <a16:creationId xmlns:a16="http://schemas.microsoft.com/office/drawing/2014/main" id="{A1798DC5-3B56-4818-8457-B7901B02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866900"/>
            <a:ext cx="6096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T0</a:t>
            </a:r>
          </a:p>
        </p:txBody>
      </p:sp>
      <p:sp>
        <p:nvSpPr>
          <p:cNvPr id="12" name="db-auth-storage-realtime-edge-functions">
            <a:extLst xmlns:a="http://schemas.openxmlformats.org/drawingml/2006/main">
              <a:ext uri="{FF2B5EF4-FFF2-40B4-BE49-F238E27FC236}">
                <a16:creationId xmlns:a16="http://schemas.microsoft.com/office/drawing/2014/main" id="{E977E677-9BBD-432B-979A-BEDFD4CB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866900"/>
            <a:ext cx="2286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DB, Auth, Storage, Realtime, Edge Functions</a:t>
            </a:r>
          </a:p>
        </p:txBody>
      </p:sp>
      <p:sp>
        <p:nvSpPr>
          <p:cNvPr id="13" name="no-sign-in-sync-cloud-reads-">
            <a:extLst xmlns:a="http://schemas.openxmlformats.org/drawingml/2006/main">
              <a:ext uri="{FF2B5EF4-FFF2-40B4-BE49-F238E27FC236}">
                <a16:creationId xmlns:a16="http://schemas.microsoft.com/office/drawing/2014/main" id="{AD1D0235-25EC-4C66-B564-FEA595E1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866900"/>
            <a:ext cx="2952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No sign-in/sync/cloud reads.</a:t>
            </a:r>
          </a:p>
        </p:txBody>
      </p:sp>
      <p:sp>
        <p:nvSpPr>
          <p:cNvPr id="14" name="offline-drift-cache-outbox-for-transient-outage-dr-pitr-for-sustained-incidents-">
            <a:extLst xmlns:a="http://schemas.openxmlformats.org/drawingml/2006/main">
              <a:ext uri="{FF2B5EF4-FFF2-40B4-BE49-F238E27FC236}">
                <a16:creationId xmlns:a16="http://schemas.microsoft.com/office/drawing/2014/main" id="{BDC8D706-3BC7-4231-9FC7-DB67279B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66900"/>
            <a:ext cx="2667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Offline Drift cache + outbox for transient outage; DR/PITR for sustained incidents.</a:t>
            </a:r>
          </a:p>
        </p:txBody>
      </p:sp>
      <p:sp>
        <p:nvSpPr>
          <p:cNvPr id="15" name="brevo-resend">
            <a:extLst xmlns:a="http://schemas.openxmlformats.org/drawingml/2006/main">
              <a:ext uri="{FF2B5EF4-FFF2-40B4-BE49-F238E27FC236}">
                <a16:creationId xmlns:a16="http://schemas.microsoft.com/office/drawing/2014/main" id="{7D3B83D7-72DC-4F9B-8EC4-A3C4D872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428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Brevo + Resend</a:t>
            </a:r>
          </a:p>
        </p:txBody>
      </p:sp>
      <p:sp>
        <p:nvSpPr>
          <p:cNvPr id="16" name="t0">
            <a:extLst xmlns:a="http://schemas.openxmlformats.org/drawingml/2006/main">
              <a:ext uri="{FF2B5EF4-FFF2-40B4-BE49-F238E27FC236}">
                <a16:creationId xmlns:a16="http://schemas.microsoft.com/office/drawing/2014/main" id="{5BE23273-C858-4853-A32C-4426652C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419350"/>
            <a:ext cx="6096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T0</a:t>
            </a:r>
          </a:p>
        </p:txBody>
      </p:sp>
      <p:sp>
        <p:nvSpPr>
          <p:cNvPr id="17" name="otp-sign-in-email">
            <a:extLst xmlns:a="http://schemas.openxmlformats.org/drawingml/2006/main">
              <a:ext uri="{FF2B5EF4-FFF2-40B4-BE49-F238E27FC236}">
                <a16:creationId xmlns:a16="http://schemas.microsoft.com/office/drawing/2014/main" id="{0137AE25-6529-4C20-A14C-70B29956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2286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OTP/sign-in email</a:t>
            </a:r>
          </a:p>
        </p:txBody>
      </p:sp>
      <p:sp>
        <p:nvSpPr>
          <p:cNvPr id="18" name="new-sign-ins-stall-if-both-fail-">
            <a:extLst xmlns:a="http://schemas.openxmlformats.org/drawingml/2006/main">
              <a:ext uri="{FF2B5EF4-FFF2-40B4-BE49-F238E27FC236}">
                <a16:creationId xmlns:a16="http://schemas.microsoft.com/office/drawing/2014/main" id="{E1782478-8B41-4CFF-8BE5-D2156205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419350"/>
            <a:ext cx="2952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New sign-ins stall if both fail.</a:t>
            </a:r>
          </a:p>
        </p:txBody>
      </p:sp>
      <p:sp>
        <p:nvSpPr>
          <p:cNvPr id="19" name="primary-fallback-path-proven-on-staging-keep-both-domains-keys-healthy-">
            <a:extLst xmlns:a="http://schemas.openxmlformats.org/drawingml/2006/main">
              <a:ext uri="{FF2B5EF4-FFF2-40B4-BE49-F238E27FC236}">
                <a16:creationId xmlns:a16="http://schemas.microsoft.com/office/drawing/2014/main" id="{ECF2EBF1-AA2E-4554-85C5-FFCDFA68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19350"/>
            <a:ext cx="2667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Primary/fallback path proven on staging; keep both domains/keys healthy.</a:t>
            </a:r>
          </a:p>
        </p:txBody>
      </p:sp>
      <p:sp>
        <p:nvSpPr>
          <p:cNvPr id="20" name="firebase">
            <a:extLst xmlns:a="http://schemas.openxmlformats.org/drawingml/2006/main">
              <a:ext uri="{FF2B5EF4-FFF2-40B4-BE49-F238E27FC236}">
                <a16:creationId xmlns:a16="http://schemas.microsoft.com/office/drawing/2014/main" id="{D7293418-4B69-4026-8645-ADBDCAC7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71800"/>
            <a:ext cx="1428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Firebase</a:t>
            </a:r>
          </a:p>
        </p:txBody>
      </p:sp>
      <p:sp>
        <p:nvSpPr>
          <p:cNvPr id="21" name="t1">
            <a:extLst xmlns:a="http://schemas.openxmlformats.org/drawingml/2006/main">
              <a:ext uri="{FF2B5EF4-FFF2-40B4-BE49-F238E27FC236}">
                <a16:creationId xmlns:a16="http://schemas.microsoft.com/office/drawing/2014/main" id="{458D8A57-9E99-4E07-B3D6-D10D4442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971800"/>
            <a:ext cx="6096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T1</a:t>
            </a:r>
          </a:p>
        </p:txBody>
      </p:sp>
      <p:sp>
        <p:nvSpPr>
          <p:cNvPr id="22" name="push-crash-diagnostics">
            <a:extLst xmlns:a="http://schemas.openxmlformats.org/drawingml/2006/main">
              <a:ext uri="{FF2B5EF4-FFF2-40B4-BE49-F238E27FC236}">
                <a16:creationId xmlns:a16="http://schemas.microsoft.com/office/drawing/2014/main" id="{CE2E0990-3A9C-4A16-A9E1-BABB7C34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71800"/>
            <a:ext cx="2286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Push + crash diagnostics</a:t>
            </a:r>
          </a:p>
        </p:txBody>
      </p:sp>
      <p:sp>
        <p:nvSpPr>
          <p:cNvPr id="23" name="push-crash-visibility-degrade-">
            <a:extLst xmlns:a="http://schemas.openxmlformats.org/drawingml/2006/main">
              <a:ext uri="{FF2B5EF4-FFF2-40B4-BE49-F238E27FC236}">
                <a16:creationId xmlns:a16="http://schemas.microsoft.com/office/drawing/2014/main" id="{C0F98856-DD87-4EA8-AE55-E0D40FFE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971800"/>
            <a:ext cx="2952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Push/crash visibility degrade.</a:t>
            </a:r>
          </a:p>
        </p:txBody>
      </p:sp>
      <p:sp>
        <p:nvSpPr>
          <p:cNvPr id="24" name="app-remains-usable-in-app-inbox-is-durable-">
            <a:extLst xmlns:a="http://schemas.openxmlformats.org/drawingml/2006/main">
              <a:ext uri="{FF2B5EF4-FFF2-40B4-BE49-F238E27FC236}">
                <a16:creationId xmlns:a16="http://schemas.microsoft.com/office/drawing/2014/main" id="{5AC1DD0B-ABAD-48BC-9BB4-F2A1EE4D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71800"/>
            <a:ext cx="2667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App remains usable; in-app inbox is durable.</a:t>
            </a:r>
          </a:p>
        </p:txBody>
      </p:sp>
      <p:sp>
        <p:nvSpPr>
          <p:cNvPr id="25" name="vercel">
            <a:extLst xmlns:a="http://schemas.openxmlformats.org/drawingml/2006/main">
              <a:ext uri="{FF2B5EF4-FFF2-40B4-BE49-F238E27FC236}">
                <a16:creationId xmlns:a16="http://schemas.microsoft.com/office/drawing/2014/main" id="{F0A90690-E1BC-4964-AF1A-1DE03CBE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1428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Vercel</a:t>
            </a:r>
          </a:p>
        </p:txBody>
      </p:sp>
      <p:sp>
        <p:nvSpPr>
          <p:cNvPr id="26" name="t1">
            <a:extLst xmlns:a="http://schemas.openxmlformats.org/drawingml/2006/main">
              <a:ext uri="{FF2B5EF4-FFF2-40B4-BE49-F238E27FC236}">
                <a16:creationId xmlns:a16="http://schemas.microsoft.com/office/drawing/2014/main" id="{8E93191A-E1D3-4D73-8597-74C4852FE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24250"/>
            <a:ext cx="6096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T1</a:t>
            </a:r>
          </a:p>
        </p:txBody>
      </p:sp>
      <p:sp>
        <p:nvSpPr>
          <p:cNvPr id="27" name="public-web-invite-previews-assetlinks-dns">
            <a:extLst xmlns:a="http://schemas.openxmlformats.org/drawingml/2006/main">
              <a:ext uri="{FF2B5EF4-FFF2-40B4-BE49-F238E27FC236}">
                <a16:creationId xmlns:a16="http://schemas.microsoft.com/office/drawing/2014/main" id="{EE5D15F8-2E00-474D-9005-215944E1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24250"/>
            <a:ext cx="2286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Public web, invite previews, assetlinks, DNS</a:t>
            </a:r>
          </a:p>
        </p:txBody>
      </p:sp>
      <p:sp>
        <p:nvSpPr>
          <p:cNvPr id="28" name="web-previews-app-links-degrade-">
            <a:extLst xmlns:a="http://schemas.openxmlformats.org/drawingml/2006/main">
              <a:ext uri="{FF2B5EF4-FFF2-40B4-BE49-F238E27FC236}">
                <a16:creationId xmlns:a16="http://schemas.microsoft.com/office/drawing/2014/main" id="{D0460D3B-29F9-49CD-B157-A4704D77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524250"/>
            <a:ext cx="2952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Web previews/App Links degrade.</a:t>
            </a:r>
          </a:p>
        </p:txBody>
      </p:sp>
      <p:sp>
        <p:nvSpPr>
          <p:cNvPr id="29" name="core-app-works-can-re-point-dns-or-serve-fallback-pages-">
            <a:extLst xmlns:a="http://schemas.openxmlformats.org/drawingml/2006/main">
              <a:ext uri="{FF2B5EF4-FFF2-40B4-BE49-F238E27FC236}">
                <a16:creationId xmlns:a16="http://schemas.microsoft.com/office/drawing/2014/main" id="{6D6366E4-4C98-4CF6-8905-C7C8A3E8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24250"/>
            <a:ext cx="2667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Core app works; can re-point DNS or serve fallback pages.</a:t>
            </a:r>
          </a:p>
        </p:txBody>
      </p:sp>
      <p:sp>
        <p:nvSpPr>
          <p:cNvPr id="30" name="posthog-eu">
            <a:extLst xmlns:a="http://schemas.openxmlformats.org/drawingml/2006/main">
              <a:ext uri="{FF2B5EF4-FFF2-40B4-BE49-F238E27FC236}">
                <a16:creationId xmlns:a16="http://schemas.microsoft.com/office/drawing/2014/main" id="{05593A88-4C8E-4E33-8B58-AFCCBD38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76700"/>
            <a:ext cx="1428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PostHog EU</a:t>
            </a:r>
          </a:p>
        </p:txBody>
      </p:sp>
      <p:sp>
        <p:nvSpPr>
          <p:cNvPr id="31" name="t1">
            <a:extLst xmlns:a="http://schemas.openxmlformats.org/drawingml/2006/main">
              <a:ext uri="{FF2B5EF4-FFF2-40B4-BE49-F238E27FC236}">
                <a16:creationId xmlns:a16="http://schemas.microsoft.com/office/drawing/2014/main" id="{F2DF3285-AA10-4CE8-B8C6-9DAE0FA9F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76700"/>
            <a:ext cx="6096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T1</a:t>
            </a:r>
          </a:p>
        </p:txBody>
      </p:sp>
      <p:sp>
        <p:nvSpPr>
          <p:cNvPr id="32" name="product-analytics">
            <a:extLst xmlns:a="http://schemas.openxmlformats.org/drawingml/2006/main">
              <a:ext uri="{FF2B5EF4-FFF2-40B4-BE49-F238E27FC236}">
                <a16:creationId xmlns:a16="http://schemas.microsoft.com/office/drawing/2014/main" id="{DC339B09-D5A3-451D-B466-5D4B76B9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76700"/>
            <a:ext cx="2286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Product analytics</a:t>
            </a:r>
          </a:p>
        </p:txBody>
      </p:sp>
      <p:sp>
        <p:nvSpPr>
          <p:cNvPr id="33" name="growth-retention-decisions-go-blind-">
            <a:extLst xmlns:a="http://schemas.openxmlformats.org/drawingml/2006/main">
              <a:ext uri="{FF2B5EF4-FFF2-40B4-BE49-F238E27FC236}">
                <a16:creationId xmlns:a16="http://schemas.microsoft.com/office/drawing/2014/main" id="{4ECDFAF1-E74E-4803-BE2D-F36AD63F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76700"/>
            <a:ext cx="2952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Growth/retention decisions go blind.</a:t>
            </a:r>
          </a:p>
        </p:txBody>
      </p:sp>
      <p:sp>
        <p:nvSpPr>
          <p:cNvPr id="34" name="no-runtime-dependency-keep-event-budget-and-export-plan-">
            <a:extLst xmlns:a="http://schemas.openxmlformats.org/drawingml/2006/main">
              <a:ext uri="{FF2B5EF4-FFF2-40B4-BE49-F238E27FC236}">
                <a16:creationId xmlns:a16="http://schemas.microsoft.com/office/drawing/2014/main" id="{A5022173-8CDC-4B6A-81BF-3CCBBC05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76700"/>
            <a:ext cx="2667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No runtime dependency; keep event budget and export plan.</a:t>
            </a:r>
          </a:p>
        </p:txBody>
      </p:sp>
      <p:sp>
        <p:nvSpPr>
          <p:cNvPr id="35" name="exchangerate-host">
            <a:extLst xmlns:a="http://schemas.openxmlformats.org/drawingml/2006/main">
              <a:ext uri="{FF2B5EF4-FFF2-40B4-BE49-F238E27FC236}">
                <a16:creationId xmlns:a16="http://schemas.microsoft.com/office/drawing/2014/main" id="{5C4A0391-0020-4BBB-97AE-95F5643E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1428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exchangerate.host</a:t>
            </a:r>
          </a:p>
        </p:txBody>
      </p:sp>
      <p:sp>
        <p:nvSpPr>
          <p:cNvPr id="36" name="t1">
            <a:extLst xmlns:a="http://schemas.openxmlformats.org/drawingml/2006/main">
              <a:ext uri="{FF2B5EF4-FFF2-40B4-BE49-F238E27FC236}">
                <a16:creationId xmlns:a16="http://schemas.microsoft.com/office/drawing/2014/main" id="{14377860-6DC9-47F7-B013-3003465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29150"/>
            <a:ext cx="6096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T1</a:t>
            </a:r>
          </a:p>
        </p:txBody>
      </p:sp>
      <p:sp>
        <p:nvSpPr>
          <p:cNvPr id="37" name="market-fx-snapshots">
            <a:extLst xmlns:a="http://schemas.openxmlformats.org/drawingml/2006/main">
              <a:ext uri="{FF2B5EF4-FFF2-40B4-BE49-F238E27FC236}">
                <a16:creationId xmlns:a16="http://schemas.microsoft.com/office/drawing/2014/main" id="{50A375D3-D9FD-4DB4-875F-3B27CFEF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29150"/>
            <a:ext cx="2286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Market FX snapshots</a:t>
            </a:r>
          </a:p>
        </p:txBody>
      </p:sp>
      <p:sp>
        <p:nvSpPr>
          <p:cNvPr id="38" name="new-refresh-fx-fails-">
            <a:extLst xmlns:a="http://schemas.openxmlformats.org/drawingml/2006/main">
              <a:ext uri="{FF2B5EF4-FFF2-40B4-BE49-F238E27FC236}">
                <a16:creationId xmlns:a16="http://schemas.microsoft.com/office/drawing/2014/main" id="{750C4F8C-8869-443B-B33C-351A2FE9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629150"/>
            <a:ext cx="2952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New/refresh FX fails.</a:t>
            </a:r>
          </a:p>
        </p:txBody>
      </p:sp>
      <p:sp>
        <p:nvSpPr>
          <p:cNvPr id="39" name="existing-expenses-safe-fail-loud-no-silent-money-drift-">
            <a:extLst xmlns:a="http://schemas.openxmlformats.org/drawingml/2006/main">
              <a:ext uri="{FF2B5EF4-FFF2-40B4-BE49-F238E27FC236}">
                <a16:creationId xmlns:a16="http://schemas.microsoft.com/office/drawing/2014/main" id="{CEAF7BB7-7B45-4206-B574-D7D09541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29150"/>
            <a:ext cx="2667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Existing expenses safe; fail loud, no silent money drift.</a:t>
            </a:r>
          </a:p>
        </p:txBody>
      </p:sp>
      <p:sp>
        <p:nvSpPr>
          <p:cNvPr id="40" name="google-play">
            <a:extLst xmlns:a="http://schemas.openxmlformats.org/drawingml/2006/main">
              <a:ext uri="{FF2B5EF4-FFF2-40B4-BE49-F238E27FC236}">
                <a16:creationId xmlns:a16="http://schemas.microsoft.com/office/drawing/2014/main" id="{31ABEA40-FB15-437B-A81B-2638114F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81600"/>
            <a:ext cx="1428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Google Play</a:t>
            </a:r>
          </a:p>
        </p:txBody>
      </p:sp>
      <p:sp>
        <p:nvSpPr>
          <p:cNvPr id="41" name="t2">
            <a:extLst xmlns:a="http://schemas.openxmlformats.org/drawingml/2006/main">
              <a:ext uri="{FF2B5EF4-FFF2-40B4-BE49-F238E27FC236}">
                <a16:creationId xmlns:a16="http://schemas.microsoft.com/office/drawing/2014/main" id="{FC00AC45-60DC-44C9-B9D3-9335D2A3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181600"/>
            <a:ext cx="6096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T2</a:t>
            </a:r>
          </a:p>
        </p:txBody>
      </p:sp>
      <p:sp>
        <p:nvSpPr>
          <p:cNvPr id="42" name="android-distribution">
            <a:extLst xmlns:a="http://schemas.openxmlformats.org/drawingml/2006/main">
              <a:ext uri="{FF2B5EF4-FFF2-40B4-BE49-F238E27FC236}">
                <a16:creationId xmlns:a16="http://schemas.microsoft.com/office/drawing/2014/main" id="{7A38F8F3-C1B4-4D7D-94BC-4756BFCC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81600"/>
            <a:ext cx="2286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Android distribution</a:t>
            </a:r>
          </a:p>
        </p:txBody>
      </p:sp>
      <p:sp>
        <p:nvSpPr>
          <p:cNvPr id="43" name="store-update-channel-affected-">
            <a:extLst xmlns:a="http://schemas.openxmlformats.org/drawingml/2006/main">
              <a:ext uri="{FF2B5EF4-FFF2-40B4-BE49-F238E27FC236}">
                <a16:creationId xmlns:a16="http://schemas.microsoft.com/office/drawing/2014/main" id="{5ACBC674-79B4-410B-8813-536BE8B2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181600"/>
            <a:ext cx="29527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Store/update channel affected.</a:t>
            </a:r>
          </a:p>
        </p:txBody>
      </p:sp>
      <p:sp>
        <p:nvSpPr>
          <p:cNvPr id="44" name="running-installs-unaffected-">
            <a:extLst xmlns:a="http://schemas.openxmlformats.org/drawingml/2006/main">
              <a:ext uri="{FF2B5EF4-FFF2-40B4-BE49-F238E27FC236}">
                <a16:creationId xmlns:a16="http://schemas.microsoft.com/office/drawing/2014/main" id="{9A1FC444-8D14-4773-8166-8330D996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181600"/>
            <a:ext cx="26670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Running installs unaffected.</a:t>
            </a:r>
          </a:p>
        </p:txBody>
      </p:sp>
    </p:spTree>
    <p:extLst>
      <p:ext uri="{BB962C8B-B14F-4D97-AF65-F5344CB8AC3E}">
        <p14:creationId xmlns:p14="http://schemas.microsoft.com/office/powerpoint/2010/main" val="7778466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323C3E49-5ABC-4E86-95A1-3B582724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83541F-3893-4F86-BE74-4AE8B516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Data boundaries: what leaves Vamo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5B45FC-BFB8-426B-974E-DEA3748E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Use this as a provider-risk mental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0EAAEA-633F-41D1-9EB9-C91B7FB62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66A620-6EFA-4960-A70E-7DAFA53C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34290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5F6F3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4F4C61-9699-4420-8934-80E5A1DF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308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Supabase keeps the crown jewels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C5BE9-6DE4-4F54-BDD1-A2EADD6C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57375"/>
            <a:ext cx="3086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Auth identity, profiles, trips, memberships, expenses, plan items, media metadata, notifications, storage objects, server-side RLS/RPC rules.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7B429-8BE6-4CE6-A9A8-03BAF0F5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428750"/>
            <a:ext cx="32385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E9E6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D00E46-F913-4FBB-B42D-7BCE3F9F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6210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Email providers see email delivery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0514AB-3C04-45CA-B273-121E1E64B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857375"/>
            <a:ext cx="2895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Brevo/Resend receive recipient email, subject, and OTP email body. They should not receive trip contents or financial data.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9B13A4-F201-4B44-8A32-61270418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428750"/>
            <a:ext cx="32385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5DF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F88AE7-6679-4A9C-A463-5FC756AC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56210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Firebase sees technical device signals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F592BF-985B-4A25-B5E1-F955CD34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57375"/>
            <a:ext cx="2895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FCM handles push tokens and delivery; Crashlytics receives sanitized technical crash reports. No trip contents or invite tokens in logs.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FE55F4-A6A4-4307-81CC-0CDBAFAE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34290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1E8F8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D2F412-7AD7-4A4B-A6A1-D79A9550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48100"/>
            <a:ext cx="308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PostHog sees product telemetry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58ADFB-20A9-42C8-A7D2-620FEA72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43375"/>
            <a:ext cx="30861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Sanitized event names and properties. Keep raw errors, trip names, receipts, invite tokens, and message text out of analytics.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E8D41D-00F3-49E0-9342-E0C036D8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14750"/>
            <a:ext cx="3238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A634DE-1B93-4425-A878-67B96F02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84810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FX provider sees currency requests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6A5D69-842C-4F7B-998D-562FE385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143375"/>
            <a:ext cx="2895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exchangerate.host should see currency pairs only. No user or trip identity needed for market-rate lookup.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EB2943-AB17-42CC-85DD-E50CE673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3238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8F8FF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3A91B9-B9DF-4B79-ABA5-E84F64F0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4810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Vercel serves public surface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558EA3-1F5B-4929-A386-FCD36683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43375"/>
            <a:ext cx="2895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Landing, policies, invite preview, assetlinks, DNS. Public preview RPC must stay minimal: no finances, no roster, no media secrets.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BE4554-2BD3-42F0-826A-579D4615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436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Enterprise principle: keep PII/money/media inside Supabase or controlled storage; send only the minimum event/payload needed to external providers.</a:t>
            </a:r>
          </a:p>
        </p:txBody>
      </p:sp>
    </p:spTree>
    <p:extLst>
      <p:ext uri="{BB962C8B-B14F-4D97-AF65-F5344CB8AC3E}">
        <p14:creationId xmlns:p14="http://schemas.microsoft.com/office/powerpoint/2010/main" val="2561240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670DB832-C2A6-40C8-8155-B8C84753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8D734A-F0BF-45FA-98FF-2CC7576E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Business plan fit: base-case is inside the launch envelope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8B2238-4737-42EA-96AA-A04856C1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The current stack is not the bottleneck for the first proof; product loops 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F67EAF-D8F6-40E1-86B9-A98E19FB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106k-base-case-mau-at-m36">
            <a:extLst xmlns:a="http://schemas.openxmlformats.org/drawingml/2006/main">
              <a:ext uri="{FF2B5EF4-FFF2-40B4-BE49-F238E27FC236}">
                <a16:creationId xmlns:a16="http://schemas.microsoft.com/office/drawing/2014/main" id="{4FD2A2EE-FAC1-4FF7-B1B4-528EE1A7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9050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5F6F3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106k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base-case MAU at m36</a:t>
            </a:r>
          </a:p>
        </p:txBody>
      </p:sp>
      <p:sp>
        <p:nvSpPr>
          <p:cNvPr id="6" name="4-4k-base-case-paying-users-at-m36">
            <a:extLst xmlns:a="http://schemas.openxmlformats.org/drawingml/2006/main">
              <a:ext uri="{FF2B5EF4-FFF2-40B4-BE49-F238E27FC236}">
                <a16:creationId xmlns:a16="http://schemas.microsoft.com/office/drawing/2014/main" id="{E32133CC-05BC-4B45-B750-B68B7856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428750"/>
            <a:ext cx="2095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2FFD1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4.4k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base-case paying users at m36</a:t>
            </a:r>
          </a:p>
        </p:txBody>
      </p:sp>
      <p:sp>
        <p:nvSpPr>
          <p:cNvPr id="7" name="-183k-y3-net-revenue-base-case">
            <a:extLst xmlns:a="http://schemas.openxmlformats.org/drawingml/2006/main">
              <a:ext uri="{FF2B5EF4-FFF2-40B4-BE49-F238E27FC236}">
                <a16:creationId xmlns:a16="http://schemas.microsoft.com/office/drawing/2014/main" id="{1D8422C7-3A9C-482E-BCDA-EE886F4E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428750"/>
            <a:ext cx="2095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$183k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Y3 net revenue, base case</a:t>
            </a:r>
          </a:p>
        </p:txBody>
      </p:sp>
      <p:sp>
        <p:nvSpPr>
          <p:cNvPr id="8" name="-520-mo-planned-fixed-tooling-infra-floor">
            <a:extLst xmlns:a="http://schemas.openxmlformats.org/drawingml/2006/main">
              <a:ext uri="{FF2B5EF4-FFF2-40B4-BE49-F238E27FC236}">
                <a16:creationId xmlns:a16="http://schemas.microsoft.com/office/drawing/2014/main" id="{9C670205-DFDF-45BD-8B97-54563394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428750"/>
            <a:ext cx="2381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E9E6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$520/mo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planned fixed tooling/infra floor</a:t>
            </a:r>
          </a:p>
        </p:txBody>
      </p:sp>
      <p:sp>
        <p:nvSpPr>
          <p:cNvPr id="9" name="bullet-dot">
            <a:extLst xmlns:a="http://schemas.openxmlformats.org/drawingml/2006/main">
              <a:ext uri="{FF2B5EF4-FFF2-40B4-BE49-F238E27FC236}">
                <a16:creationId xmlns:a16="http://schemas.microsoft.com/office/drawing/2014/main" id="{3FE4C168-6414-46FF-8AE3-255B74F9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8E"/>
          </a:solidFill>
          <a:ln xmlns:a="http://schemas.openxmlformats.org/drawingml/2006/main" w="0">
            <a:solidFill>
              <a:srgbClr val="00A88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325EA2-CCC6-468A-8F37-79845322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9782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Supabase Pro includes 100k MAU before MAU overage; base-case m36 is just above that line, not wildly beyond it.</a:t>
            </a:r>
          </a:p>
        </p:txBody>
      </p:sp>
      <p:sp>
        <p:nvSpPr>
          <p:cNvPr id="11" name="bullet-dot">
            <a:extLst xmlns:a="http://schemas.openxmlformats.org/drawingml/2006/main">
              <a:ext uri="{FF2B5EF4-FFF2-40B4-BE49-F238E27FC236}">
                <a16:creationId xmlns:a16="http://schemas.microsoft.com/office/drawing/2014/main" id="{3BFDE19A-7427-488A-90AA-54737461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8E"/>
          </a:solidFill>
          <a:ln xmlns:a="http://schemas.openxmlformats.org/drawingml/2006/main" w="0">
            <a:solidFill>
              <a:srgbClr val="00A88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8290D-C5AD-4DD0-8D1D-2A479055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38525"/>
            <a:ext cx="9782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Vercel Pro includes enough web transfer/edge headroom for invite previews and the marketing site in early launch.</a:t>
            </a:r>
          </a:p>
        </p:txBody>
      </p:sp>
      <p:sp>
        <p:nvSpPr>
          <p:cNvPr id="13" name="bullet-dot">
            <a:extLst xmlns:a="http://schemas.openxmlformats.org/drawingml/2006/main">
              <a:ext uri="{FF2B5EF4-FFF2-40B4-BE49-F238E27FC236}">
                <a16:creationId xmlns:a16="http://schemas.microsoft.com/office/drawing/2014/main" id="{29B7C467-DDC1-4DED-8648-366D8F65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86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8E"/>
          </a:solidFill>
          <a:ln xmlns:a="http://schemas.openxmlformats.org/drawingml/2006/main" w="0">
            <a:solidFill>
              <a:srgbClr val="00A88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4D19F9-93CE-4D3E-BB69-26A6DD3F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10000"/>
            <a:ext cx="9782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Resend/Brevo free tiers are enough for closed beta; paid email tiers are cheap relative to a working paid funnel.</a:t>
            </a:r>
          </a:p>
        </p:txBody>
      </p:sp>
      <p:sp>
        <p:nvSpPr>
          <p:cNvPr id="15" name="bullet-dot">
            <a:extLst xmlns:a="http://schemas.openxmlformats.org/drawingml/2006/main">
              <a:ext uri="{FF2B5EF4-FFF2-40B4-BE49-F238E27FC236}">
                <a16:creationId xmlns:a16="http://schemas.microsoft.com/office/drawing/2014/main" id="{B297656C-CDF6-41CF-9C23-EE1AC2FF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8E"/>
          </a:solidFill>
          <a:ln xmlns:a="http://schemas.openxmlformats.org/drawingml/2006/main" w="0">
            <a:solidFill>
              <a:srgbClr val="00A88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0F6A22-272A-4B48-8CBA-C5CE0CF8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81475"/>
            <a:ext cx="9782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PostHog free analytics can cover disciplined event volume; identified-event volume and replay are the watch items.</a:t>
            </a:r>
          </a:p>
        </p:txBody>
      </p:sp>
      <p:sp>
        <p:nvSpPr>
          <p:cNvPr id="17" name="bullet-dot">
            <a:extLst xmlns:a="http://schemas.openxmlformats.org/drawingml/2006/main">
              <a:ext uri="{FF2B5EF4-FFF2-40B4-BE49-F238E27FC236}">
                <a16:creationId xmlns:a16="http://schemas.microsoft.com/office/drawing/2014/main" id="{7EF8CA5C-AF5C-4D64-8C66-DC9BFE5B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291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8E"/>
          </a:solidFill>
          <a:ln xmlns:a="http://schemas.openxmlformats.org/drawingml/2006/main" w="0">
            <a:solidFill>
              <a:srgbClr val="00A88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55FE4-6DD4-47E0-A9B2-A19F7C40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52950"/>
            <a:ext cx="9782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business model says paid acquisition is not viable; architecture must support product-led loops, not paid ad bursts.</a:t>
            </a:r>
          </a:p>
        </p:txBody>
      </p:sp>
    </p:spTree>
    <p:extLst>
      <p:ext uri="{BB962C8B-B14F-4D97-AF65-F5344CB8AC3E}">
        <p14:creationId xmlns:p14="http://schemas.microsoft.com/office/powerpoint/2010/main" val="8267195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D81995B6-E0B0-4C9E-9993-EF4DEBE4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2E718-3E66-461B-AD6F-EE4661D2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Where the current setup will bend first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8D558B-4D2E-4041-A44F-6CBA6EA5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Not all dependencies become expensive at the same time.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6B079-E8DF-404F-982B-007DC7CD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C1A8E7-63E6-47FD-9664-44214F38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1623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E9E6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D1F31E-6C27-454A-B945-A05B203A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2819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1. Supabase concentration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AED3B5-6B03-434B-8FF5-4EF9FFB1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2819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DB/Auth/Storage/Functions in one vendor and likely one primary region. Upgrade compute first; add read replicas later.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C665A8-01D0-417F-8A8C-9360FA38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66850"/>
            <a:ext cx="31623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5DF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87F45-63EC-4475-94B8-ADABD84C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00200"/>
            <a:ext cx="2819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2. Media and render cost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DA70A-B699-4AD1-8CAC-392C995C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95475"/>
            <a:ext cx="2819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TripReel, action-cam, recaps, and unlimited storage are the first true cost accelerants. Put fair use and media lifecycle in before launch-wide growth.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1B1B3A-1B5C-44F5-9283-5DFA1530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466850"/>
            <a:ext cx="31623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CA882-53A0-44EC-A36D-CAAA1C6D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00200"/>
            <a:ext cx="2819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3. Email quota and deliverability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D8F47C-A045-45C9-90B2-E5023C77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95475"/>
            <a:ext cx="2819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OTP volume scales with sign-ins. Keep Brevo+Resend both healthy; add alerting on fallback usage, bounce rate, and domain reputation.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B2A511-4315-462E-B578-FADF2CA6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924300"/>
            <a:ext cx="31623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E8F8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EFDF60-006E-4FCC-8A79-DAD7780E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57650"/>
            <a:ext cx="2819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4. Analytics event volume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CCEE63-9E7D-4EA1-BBCA-9102088A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352925"/>
            <a:ext cx="2819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PostHog can stay cheap if event taxonomy is tight. Session replay and identified high-volume events can become noisy/expensive.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671745-8055-455C-91F4-7270B3C4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924300"/>
            <a:ext cx="31623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5F6F3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53F4ED-F5BA-4B0A-AC86-CD2572C3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819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5. Global latency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3B8BC8-4872-41E3-ACE6-78AC1A9F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52925"/>
            <a:ext cx="2819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Offline-first masks reads/writes, but users in APAC/Americas will feel auth, sync, invite previews, and media download latency from an EU primary.</a:t>
            </a:r>
          </a:p>
        </p:txBody>
      </p:sp>
    </p:spTree>
    <p:extLst>
      <p:ext uri="{BB962C8B-B14F-4D97-AF65-F5344CB8AC3E}">
        <p14:creationId xmlns:p14="http://schemas.microsoft.com/office/powerpoint/2010/main" val="18054452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706386A6-3032-4D9A-AD34-EE094B18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DAC5D6-8F4B-4B51-A1DE-4E269BBB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Enterprise-grade scaling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44C998-3A72-48D7-BBF8-86C04188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Buy capacity only after a measured gate trips.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54F150-2601-47E0-BD1D-81087855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closed-beta-0-5k-mau">
            <a:extLst xmlns:a="http://schemas.openxmlformats.org/drawingml/2006/main">
              <a:ext uri="{FF2B5EF4-FFF2-40B4-BE49-F238E27FC236}">
                <a16:creationId xmlns:a16="http://schemas.microsoft.com/office/drawing/2014/main" id="{F1D751B7-22AF-4988-ABBA-7A4B738C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7716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5F6F3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Closed beta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0-5k MAU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BD9741-91DB-4201-84A1-D3EA196C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809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Supabase Pro, Vercel Pro, Resend+Brevo, Crashlytics, PITR, smoke/k6 gates.</a:t>
            </a:r>
          </a:p>
        </p:txBody>
      </p:sp>
      <p:sp>
        <p:nvSpPr>
          <p:cNvPr id="7" name="public-v1-5k-100k-mau">
            <a:extLst xmlns:a="http://schemas.openxmlformats.org/drawingml/2006/main">
              <a:ext uri="{FF2B5EF4-FFF2-40B4-BE49-F238E27FC236}">
                <a16:creationId xmlns:a16="http://schemas.microsoft.com/office/drawing/2014/main" id="{B4AE43A1-2A6E-48D3-BC28-D43B10A46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66850"/>
            <a:ext cx="17716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2FFD1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Public v1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5k-100k MAU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AD2885-2C61-4302-91B1-FA72D0AA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647950"/>
            <a:ext cx="1809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Compute Small/Medium, storage export, spend alerts, event budgets, media retention rules.</a:t>
            </a:r>
          </a:p>
        </p:txBody>
      </p:sp>
      <p:sp>
        <p:nvSpPr>
          <p:cNvPr id="9" name="traction-100k-500k-mau">
            <a:extLst xmlns:a="http://schemas.openxmlformats.org/drawingml/2006/main">
              <a:ext uri="{FF2B5EF4-FFF2-40B4-BE49-F238E27FC236}">
                <a16:creationId xmlns:a16="http://schemas.microsoft.com/office/drawing/2014/main" id="{77678881-BFC8-4CDC-9FE7-6AEBD558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66850"/>
            <a:ext cx="17716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5DF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Traction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100k-500k MAU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24979-675E-4EA0-B77A-0D904C0A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47950"/>
            <a:ext cx="1809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Dedicated DB compute, read replica for web/read-heavy surfaces, queue media jobs, paid email tiers.</a:t>
            </a:r>
          </a:p>
        </p:txBody>
      </p:sp>
      <p:sp>
        <p:nvSpPr>
          <p:cNvPr id="11" name="breakout-500k-1m-mau">
            <a:extLst xmlns:a="http://schemas.openxmlformats.org/drawingml/2006/main">
              <a:ext uri="{FF2B5EF4-FFF2-40B4-BE49-F238E27FC236}">
                <a16:creationId xmlns:a16="http://schemas.microsoft.com/office/drawing/2014/main" id="{81024A9E-C0C7-4E0E-AE7A-14EC9327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466850"/>
            <a:ext cx="17716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E9E6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Breakout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500k-1M+ MAU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8E9198-B182-4584-852F-EA822D8F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47950"/>
            <a:ext cx="1809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Multi-region read replicas, CDN/media pipeline, log drains, SLOs, support console, data warehouse exports.</a:t>
            </a:r>
          </a:p>
        </p:txBody>
      </p:sp>
      <p:sp>
        <p:nvSpPr>
          <p:cNvPr id="13" name="enterprise-multi-mau-global">
            <a:extLst xmlns:a="http://schemas.openxmlformats.org/drawingml/2006/main">
              <a:ext uri="{FF2B5EF4-FFF2-40B4-BE49-F238E27FC236}">
                <a16:creationId xmlns:a16="http://schemas.microsoft.com/office/drawing/2014/main" id="{2DE3E9F7-DCBD-4473-B6BE-0D08EF42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466850"/>
            <a:ext cx="17716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1E8F8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Enterprise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multi-MAU/global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C54E2F-FB03-4C60-8155-F290063E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47950"/>
            <a:ext cx="1809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Supabase Enterprise or self-host escape plan, region/data residency strategy, incident rota, compliance posture.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147B14-33D6-48C7-A876-8B8FAC30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48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Trigger metrics</a:t>
            </a:r>
          </a:p>
        </p:txBody>
      </p:sp>
      <p:sp>
        <p:nvSpPr>
          <p:cNvPr id="16" name="bullet-dot">
            <a:extLst xmlns:a="http://schemas.openxmlformats.org/drawingml/2006/main">
              <a:ext uri="{FF2B5EF4-FFF2-40B4-BE49-F238E27FC236}">
                <a16:creationId xmlns:a16="http://schemas.microsoft.com/office/drawing/2014/main" id="{E142EB15-E22E-4285-A9F7-BE67C4D1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435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5A557E-F17E-467E-8C8A-EABD63BA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467350"/>
            <a:ext cx="935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DB CPU/IO and p95 sync latency</a:t>
            </a:r>
          </a:p>
        </p:txBody>
      </p:sp>
      <p:sp>
        <p:nvSpPr>
          <p:cNvPr id="18" name="bullet-dot">
            <a:extLst xmlns:a="http://schemas.openxmlformats.org/drawingml/2006/main">
              <a:ext uri="{FF2B5EF4-FFF2-40B4-BE49-F238E27FC236}">
                <a16:creationId xmlns:a16="http://schemas.microsoft.com/office/drawing/2014/main" id="{E443D9D1-335B-4486-86AD-7E0B42D2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91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C6376B-E5FB-4B86-AB7D-A0D099C2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715000"/>
            <a:ext cx="935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Storage GB, egress, and media cache misses</a:t>
            </a:r>
          </a:p>
        </p:txBody>
      </p:sp>
      <p:sp>
        <p:nvSpPr>
          <p:cNvPr id="20" name="bullet-dot">
            <a:extLst xmlns:a="http://schemas.openxmlformats.org/drawingml/2006/main">
              <a:ext uri="{FF2B5EF4-FFF2-40B4-BE49-F238E27FC236}">
                <a16:creationId xmlns:a16="http://schemas.microsoft.com/office/drawing/2014/main" id="{0C4796D4-7619-4B4A-8652-5B238A3E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388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1DE94D-B33B-4C1D-8F60-D7F69BF7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962650"/>
            <a:ext cx="935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OTP send rate, bounces, fallback usage</a:t>
            </a:r>
          </a:p>
        </p:txBody>
      </p:sp>
      <p:sp>
        <p:nvSpPr>
          <p:cNvPr id="22" name="bullet-dot">
            <a:extLst xmlns:a="http://schemas.openxmlformats.org/drawingml/2006/main">
              <a:ext uri="{FF2B5EF4-FFF2-40B4-BE49-F238E27FC236}">
                <a16:creationId xmlns:a16="http://schemas.microsoft.com/office/drawing/2014/main" id="{4C6F13E6-0CC6-4F1C-A030-B000801F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86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EDEE22-5718-4E90-824F-A9A73D7F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210300"/>
            <a:ext cx="935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PostHog event volume and cost per active trip</a:t>
            </a:r>
          </a:p>
        </p:txBody>
      </p:sp>
      <p:sp>
        <p:nvSpPr>
          <p:cNvPr id="24" name="bullet-dot">
            <a:extLst xmlns:a="http://schemas.openxmlformats.org/drawingml/2006/main">
              <a:ext uri="{FF2B5EF4-FFF2-40B4-BE49-F238E27FC236}">
                <a16:creationId xmlns:a16="http://schemas.microsoft.com/office/drawing/2014/main" id="{98CD0B99-CF9C-4933-9CA6-DD480615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341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6EB83C-C916-43D4-8D15-651359DE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457950"/>
            <a:ext cx="935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Crash-free users and support tickets per 1k MAU</a:t>
            </a:r>
          </a:p>
        </p:txBody>
      </p:sp>
    </p:spTree>
    <p:extLst>
      <p:ext uri="{BB962C8B-B14F-4D97-AF65-F5344CB8AC3E}">
        <p14:creationId xmlns:p14="http://schemas.microsoft.com/office/powerpoint/2010/main" val="21050005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4E2FAD6C-41ED-49FA-AFD3-CBD06D53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BED50-C746-4983-B93E-DEC22AA4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Region plan: EU-first, then reads near users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C5088E-14B8-480C-934B-598F4E6E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Vamo can go global before the database becomes global-write.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9ABE20-FA23-4531-B620-EF78B7EF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eu-primary-supabase-postgres-storage-auth-vercel-eu-edge-resend-eu">
            <a:extLst xmlns:a="http://schemas.openxmlformats.org/drawingml/2006/main">
              <a:ext uri="{FF2B5EF4-FFF2-40B4-BE49-F238E27FC236}">
                <a16:creationId xmlns:a16="http://schemas.microsoft.com/office/drawing/2014/main" id="{2FAC780A-0FEE-4EA9-AAA7-4A6D1FDC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95500"/>
            <a:ext cx="27432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5F6F3"/>
          </a:solidFill>
          <a:ln xmlns:a="http://schemas.openxmlformats.org/drawingml/2006/main" w="9525">
            <a:solidFill>
              <a:srgbClr val="0D737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EU primary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Supabase Postgres + Storage + Auth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Vercel EU edge + Resend EU</a:t>
            </a:r>
          </a:p>
        </p:txBody>
      </p:sp>
      <p:sp>
        <p:nvSpPr>
          <p:cNvPr id="6" name="americas-read-path-read-replica-cdn-media-edge-support-english-first-growth">
            <a:extLst xmlns:a="http://schemas.openxmlformats.org/drawingml/2006/main">
              <a:ext uri="{FF2B5EF4-FFF2-40B4-BE49-F238E27FC236}">
                <a16:creationId xmlns:a16="http://schemas.microsoft.com/office/drawing/2014/main" id="{095E8BA4-15C8-420D-868F-CF8B70B8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352550"/>
            <a:ext cx="2743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Americas read path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Read replica + CDN/media edge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Support English-first growth</a:t>
            </a:r>
          </a:p>
        </p:txBody>
      </p:sp>
      <p:sp>
        <p:nvSpPr>
          <p:cNvPr id="7" name="apac-read-path-add-when-latency-or-traction-demands-avoid-premature-region-cost">
            <a:extLst xmlns:a="http://schemas.openxmlformats.org/drawingml/2006/main">
              <a:ext uri="{FF2B5EF4-FFF2-40B4-BE49-F238E27FC236}">
                <a16:creationId xmlns:a16="http://schemas.microsoft.com/office/drawing/2014/main" id="{5C8624D9-5F4F-4599-BFFB-D51B246E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829050"/>
            <a:ext cx="2743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5DF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APAC read path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Add when latency or traction demands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Avoid premature region cost</a:t>
            </a:r>
          </a:p>
        </p:txBody>
      </p:sp>
      <p:sp>
        <p:nvSpPr>
          <p:cNvPr id="8" name="global-control-plane-observability-spend-limits-incident-process-provider-runbooks">
            <a:extLst xmlns:a="http://schemas.openxmlformats.org/drawingml/2006/main">
              <a:ext uri="{FF2B5EF4-FFF2-40B4-BE49-F238E27FC236}">
                <a16:creationId xmlns:a16="http://schemas.microsoft.com/office/drawing/2014/main" id="{4B2A43C4-E19B-4240-8C9E-3CA64B4E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24003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1E8F8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Global control plane</a:t>
            </a:r>
          </a:p>
          <a:p xmlns:a="http://schemas.openxmlformats.org/drawingml/2006/main">
            <a:pPr algn="ctr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Observability, spend limits, incident process, provider runbooks</a:t>
            </a:r>
          </a:p>
        </p:txBody>
      </p:sp>
      <p:cxnSp>
        <p:nvCxnSpPr>
          <p:cNvPr id="2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4095750" y="1914525"/>
            <a:ext cx="1219200" cy="857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3677C8"/>
            </a:solidFill>
            <a:prstDash val="solid"/>
          </a:ln>
        </p:spPr>
      </p:cxnSp>
      <p:cxnSp>
        <p:nvCxnSpPr>
          <p:cNvPr id="30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95750" y="2771775"/>
            <a:ext cx="1219200" cy="1619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6B44B"/>
            </a:solidFill>
            <a:prstDash val="solid"/>
          </a:ln>
        </p:spPr>
      </p:cxnSp>
      <p:cxnSp>
        <p:nvCxnSpPr>
          <p:cNvPr id="3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058150" y="1914525"/>
            <a:ext cx="514350" cy="13620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6A2D6F"/>
            </a:solidFill>
            <a:prstDash val="solid"/>
          </a:ln>
        </p:spPr>
      </p:cxnSp>
      <p:cxnSp>
        <p:nvCxnSpPr>
          <p:cNvPr id="3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8058150" y="3276600"/>
            <a:ext cx="514350" cy="11144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6A2D6F"/>
            </a:solidFill>
            <a:prstDash val="solid"/>
          </a:ln>
        </p:spPr>
      </p:cxnSp>
      <p:sp>
        <p:nvSpPr>
          <p:cNvPr id="13" name="bullet-dot">
            <a:extLst xmlns:a="http://schemas.openxmlformats.org/drawingml/2006/main">
              <a:ext uri="{FF2B5EF4-FFF2-40B4-BE49-F238E27FC236}">
                <a16:creationId xmlns:a16="http://schemas.microsoft.com/office/drawing/2014/main" id="{6DEBE4B1-E85E-46A5-B20F-591654CA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8E"/>
          </a:solidFill>
          <a:ln xmlns:a="http://schemas.openxmlformats.org/drawingml/2006/main" w="0">
            <a:solidFill>
              <a:srgbClr val="00A88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24C255-F7CF-4183-AAAC-ADA27FC2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19700"/>
            <a:ext cx="973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Writes stay on the primary until the product has enough scale to justify regional write complexity.</a:t>
            </a:r>
          </a:p>
        </p:txBody>
      </p:sp>
      <p:sp>
        <p:nvSpPr>
          <p:cNvPr id="15" name="bullet-dot">
            <a:extLst xmlns:a="http://schemas.openxmlformats.org/drawingml/2006/main">
              <a:ext uri="{FF2B5EF4-FFF2-40B4-BE49-F238E27FC236}">
                <a16:creationId xmlns:a16="http://schemas.microsoft.com/office/drawing/2014/main" id="{D1FA6716-A5A4-4544-964E-BA3921327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911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8E"/>
          </a:solidFill>
          <a:ln xmlns:a="http://schemas.openxmlformats.org/drawingml/2006/main" w="0">
            <a:solidFill>
              <a:srgbClr val="00A88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9E6485-C502-4572-8B72-C4B14B1E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14975"/>
            <a:ext cx="973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Read replicas reduce latency for public previews, read-heavy trip views, analytics/admin, and export workloads.</a:t>
            </a:r>
          </a:p>
        </p:txBody>
      </p:sp>
      <p:sp>
        <p:nvSpPr>
          <p:cNvPr id="17" name="bullet-dot">
            <a:extLst xmlns:a="http://schemas.openxmlformats.org/drawingml/2006/main">
              <a:ext uri="{FF2B5EF4-FFF2-40B4-BE49-F238E27FC236}">
                <a16:creationId xmlns:a16="http://schemas.microsoft.com/office/drawing/2014/main" id="{AD90F0C3-F2DA-42EF-ACC3-2CD20203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864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8E"/>
          </a:solidFill>
          <a:ln xmlns:a="http://schemas.openxmlformats.org/drawingml/2006/main" w="0">
            <a:solidFill>
              <a:srgbClr val="00A88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C69864-A1D0-494D-873D-3F15B9F1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973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Media should move behind explicit lifecycle rules and object-byte backup before TripReel/action-cam expansion.</a:t>
            </a:r>
          </a:p>
        </p:txBody>
      </p:sp>
      <p:sp>
        <p:nvSpPr>
          <p:cNvPr id="19" name="bullet-dot">
            <a:extLst xmlns:a="http://schemas.openxmlformats.org/drawingml/2006/main">
              <a:ext uri="{FF2B5EF4-FFF2-40B4-BE49-F238E27FC236}">
                <a16:creationId xmlns:a16="http://schemas.microsoft.com/office/drawing/2014/main" id="{25FE36AD-E727-43C4-8102-BF8F5A91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817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8E"/>
          </a:solidFill>
          <a:ln xmlns:a="http://schemas.openxmlformats.org/drawingml/2006/main" w="0">
            <a:solidFill>
              <a:srgbClr val="00A88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0F6614-9803-4C7F-B6D6-56109045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105525"/>
            <a:ext cx="973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Data residency becomes a business decision: EU-first is clean for launch; enterprise deals may require regional commitments.</a:t>
            </a:r>
          </a:p>
        </p:txBody>
      </p:sp>
    </p:spTree>
    <p:extLst>
      <p:ext uri="{BB962C8B-B14F-4D97-AF65-F5344CB8AC3E}">
        <p14:creationId xmlns:p14="http://schemas.microsoft.com/office/powerpoint/2010/main" val="20280562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C608DE33-0B14-4C97-B47D-4570BBBD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773255-EAE3-4D84-91F2-8BBCE677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Cost bands: what to expect if it works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6F7A22-541B-40ED-A0CA-2A06449D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Platform-pressure bands only; the Excel model remains the financial source of truth.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A54920-1248-424D-85FE-A4C5DD21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stage">
            <a:extLst xmlns:a="http://schemas.openxmlformats.org/drawingml/2006/main">
              <a:ext uri="{FF2B5EF4-FFF2-40B4-BE49-F238E27FC236}">
                <a16:creationId xmlns:a16="http://schemas.microsoft.com/office/drawing/2014/main" id="{0CB423D2-3AA9-40ED-9372-D9AE2D56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61925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Stage</a:t>
            </a:r>
          </a:p>
        </p:txBody>
      </p:sp>
      <p:sp>
        <p:nvSpPr>
          <p:cNvPr id="6" name="monthly-spend">
            <a:extLst xmlns:a="http://schemas.openxmlformats.org/drawingml/2006/main">
              <a:ext uri="{FF2B5EF4-FFF2-40B4-BE49-F238E27FC236}">
                <a16:creationId xmlns:a16="http://schemas.microsoft.com/office/drawing/2014/main" id="{A5AB911F-9446-4BF4-99F8-2382DA1A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28750"/>
            <a:ext cx="15240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Monthly spend</a:t>
            </a:r>
          </a:p>
        </p:txBody>
      </p:sp>
      <p:sp>
        <p:nvSpPr>
          <p:cNvPr id="7" name="what-drives-it">
            <a:extLst xmlns:a="http://schemas.openxmlformats.org/drawingml/2006/main">
              <a:ext uri="{FF2B5EF4-FFF2-40B4-BE49-F238E27FC236}">
                <a16:creationId xmlns:a16="http://schemas.microsoft.com/office/drawing/2014/main" id="{AE3AD110-1E31-4443-9762-369AC70A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28750"/>
            <a:ext cx="619125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drives it</a:t>
            </a:r>
          </a:p>
        </p:txBody>
      </p:sp>
      <p:sp>
        <p:nvSpPr>
          <p:cNvPr id="8" name="closed-beta">
            <a:extLst xmlns:a="http://schemas.openxmlformats.org/drawingml/2006/main">
              <a:ext uri="{FF2B5EF4-FFF2-40B4-BE49-F238E27FC236}">
                <a16:creationId xmlns:a16="http://schemas.microsoft.com/office/drawing/2014/main" id="{88A09D5F-9ADB-4DA5-B947-B796349B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16192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Closed beta</a:t>
            </a:r>
          </a:p>
        </p:txBody>
      </p:sp>
      <p:sp>
        <p:nvSpPr>
          <p:cNvPr id="9" name="-45-150">
            <a:extLst xmlns:a="http://schemas.openxmlformats.org/drawingml/2006/main">
              <a:ext uri="{FF2B5EF4-FFF2-40B4-BE49-F238E27FC236}">
                <a16:creationId xmlns:a16="http://schemas.microsoft.com/office/drawing/2014/main" id="{97A784B4-AB8B-49CD-897C-6D309C6F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981200"/>
            <a:ext cx="1524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$45-$150</a:t>
            </a:r>
          </a:p>
        </p:txBody>
      </p:sp>
      <p:sp>
        <p:nvSpPr>
          <p:cNvPr id="10" name="supabase-pro-vercel-pro-mostly-free-firebase-posthog-email-fx-">
            <a:extLst xmlns:a="http://schemas.openxmlformats.org/drawingml/2006/main">
              <a:ext uri="{FF2B5EF4-FFF2-40B4-BE49-F238E27FC236}">
                <a16:creationId xmlns:a16="http://schemas.microsoft.com/office/drawing/2014/main" id="{A664AC2C-57F4-4CEC-8A98-093EACC2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81200"/>
            <a:ext cx="61912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Supabase Pro + Vercel Pro + mostly free Firebase/PostHog/email/FX.</a:t>
            </a:r>
          </a:p>
        </p:txBody>
      </p:sp>
      <p:sp>
        <p:nvSpPr>
          <p:cNvPr id="11" name="public-v1">
            <a:extLst xmlns:a="http://schemas.openxmlformats.org/drawingml/2006/main">
              <a:ext uri="{FF2B5EF4-FFF2-40B4-BE49-F238E27FC236}">
                <a16:creationId xmlns:a16="http://schemas.microsoft.com/office/drawing/2014/main" id="{23A245BF-ADC6-42CE-89F2-D841E68E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16192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Public v1</a:t>
            </a:r>
          </a:p>
        </p:txBody>
      </p:sp>
      <p:sp>
        <p:nvSpPr>
          <p:cNvPr id="12" name="-150-500">
            <a:extLst xmlns:a="http://schemas.openxmlformats.org/drawingml/2006/main">
              <a:ext uri="{FF2B5EF4-FFF2-40B4-BE49-F238E27FC236}">
                <a16:creationId xmlns:a16="http://schemas.microsoft.com/office/drawing/2014/main" id="{DB3557FD-C675-493C-BE74-4A1CBEE6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67000"/>
            <a:ext cx="1524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$150-$500</a:t>
            </a:r>
          </a:p>
        </p:txBody>
      </p:sp>
      <p:sp>
        <p:nvSpPr>
          <p:cNvPr id="13" name="pitr-small-medium-compute-paid-email-if-otp-volume-grows-backup-storage-">
            <a:extLst xmlns:a="http://schemas.openxmlformats.org/drawingml/2006/main">
              <a:ext uri="{FF2B5EF4-FFF2-40B4-BE49-F238E27FC236}">
                <a16:creationId xmlns:a16="http://schemas.microsoft.com/office/drawing/2014/main" id="{FD5ACB80-036B-467F-BA18-4C89538B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1912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PITR, Small/Medium compute, paid email if OTP volume grows, backup storage.</a:t>
            </a:r>
          </a:p>
        </p:txBody>
      </p:sp>
      <p:sp>
        <p:nvSpPr>
          <p:cNvPr id="14" name="base-case-y3">
            <a:extLst xmlns:a="http://schemas.openxmlformats.org/drawingml/2006/main">
              <a:ext uri="{FF2B5EF4-FFF2-40B4-BE49-F238E27FC236}">
                <a16:creationId xmlns:a16="http://schemas.microsoft.com/office/drawing/2014/main" id="{102B1DE9-8028-4709-92C0-29BC1585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6192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Base-case Y3</a:t>
            </a:r>
          </a:p>
        </p:txBody>
      </p:sp>
      <p:sp>
        <p:nvSpPr>
          <p:cNvPr id="15" name="-500-2k">
            <a:extLst xmlns:a="http://schemas.openxmlformats.org/drawingml/2006/main">
              <a:ext uri="{FF2B5EF4-FFF2-40B4-BE49-F238E27FC236}">
                <a16:creationId xmlns:a16="http://schemas.microsoft.com/office/drawing/2014/main" id="{374B613C-9849-481D-BAC1-C3B4C818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52800"/>
            <a:ext cx="1524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$500-$2k</a:t>
            </a:r>
          </a:p>
        </p:txBody>
      </p:sp>
      <p:sp>
        <p:nvSpPr>
          <p:cNvPr id="16" name="around-100k-mau-compute-storage-egress-posthog-email-begin-to-matter-still-manageable-">
            <a:extLst xmlns:a="http://schemas.openxmlformats.org/drawingml/2006/main">
              <a:ext uri="{FF2B5EF4-FFF2-40B4-BE49-F238E27FC236}">
                <a16:creationId xmlns:a16="http://schemas.microsoft.com/office/drawing/2014/main" id="{7E45A935-2697-4683-85C9-4DE6122D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52800"/>
            <a:ext cx="61912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Around 100k MAU: compute/storage/egress/PostHog/email begin to matter, still manageable.</a:t>
            </a:r>
          </a:p>
        </p:txBody>
      </p:sp>
      <p:sp>
        <p:nvSpPr>
          <p:cNvPr id="17" name="upside-y3">
            <a:extLst xmlns:a="http://schemas.openxmlformats.org/drawingml/2006/main">
              <a:ext uri="{FF2B5EF4-FFF2-40B4-BE49-F238E27FC236}">
                <a16:creationId xmlns:a16="http://schemas.microsoft.com/office/drawing/2014/main" id="{75804F2C-27B0-4966-BDA2-54A1FBBB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16192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Upside Y3</a:t>
            </a:r>
          </a:p>
        </p:txBody>
      </p:sp>
      <p:sp>
        <p:nvSpPr>
          <p:cNvPr id="18" name="-5k-25k-">
            <a:extLst xmlns:a="http://schemas.openxmlformats.org/drawingml/2006/main">
              <a:ext uri="{FF2B5EF4-FFF2-40B4-BE49-F238E27FC236}">
                <a16:creationId xmlns:a16="http://schemas.microsoft.com/office/drawing/2014/main" id="{384BCD27-3AE6-4CC3-86E7-4A543A5A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38600"/>
            <a:ext cx="1524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$5k-$25k+</a:t>
            </a:r>
          </a:p>
        </p:txBody>
      </p:sp>
      <p:sp>
        <p:nvSpPr>
          <p:cNvPr id="19" name="around-900k-mau-dedicated-compute-replicas-media-pipeline-analytics-export-costs-">
            <a:extLst xmlns:a="http://schemas.openxmlformats.org/drawingml/2006/main">
              <a:ext uri="{FF2B5EF4-FFF2-40B4-BE49-F238E27FC236}">
                <a16:creationId xmlns:a16="http://schemas.microsoft.com/office/drawing/2014/main" id="{039622DA-8E53-4A1F-AAAA-ED56B03F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38600"/>
            <a:ext cx="61912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Around 900k MAU: dedicated compute, replicas, media pipeline, analytics/export costs.</a:t>
            </a:r>
          </a:p>
        </p:txBody>
      </p:sp>
      <p:sp>
        <p:nvSpPr>
          <p:cNvPr id="20" name="enterprise-global">
            <a:extLst xmlns:a="http://schemas.openxmlformats.org/drawingml/2006/main">
              <a:ext uri="{FF2B5EF4-FFF2-40B4-BE49-F238E27FC236}">
                <a16:creationId xmlns:a16="http://schemas.microsoft.com/office/drawing/2014/main" id="{C36B1748-EEB4-4F48-9E5C-53E14FFA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6192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Enterprise/global</a:t>
            </a:r>
          </a:p>
        </p:txBody>
      </p:sp>
      <p:sp>
        <p:nvSpPr>
          <p:cNvPr id="21" name="custom">
            <a:extLst xmlns:a="http://schemas.openxmlformats.org/drawingml/2006/main">
              <a:ext uri="{FF2B5EF4-FFF2-40B4-BE49-F238E27FC236}">
                <a16:creationId xmlns:a16="http://schemas.microsoft.com/office/drawing/2014/main" id="{026F6F7C-C883-477C-8DA1-4DA7A7C5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24400"/>
            <a:ext cx="152400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custom</a:t>
            </a:r>
          </a:p>
        </p:txBody>
      </p:sp>
      <p:sp>
        <p:nvSpPr>
          <p:cNvPr id="22" name="contracted-support-slos-regional-strategy-compliance-support-console-data-warehouse-">
            <a:extLst xmlns:a="http://schemas.openxmlformats.org/drawingml/2006/main">
              <a:ext uri="{FF2B5EF4-FFF2-40B4-BE49-F238E27FC236}">
                <a16:creationId xmlns:a16="http://schemas.microsoft.com/office/drawing/2014/main" id="{AB0F2694-EAD7-47B4-9A38-215F813B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24400"/>
            <a:ext cx="6191250" cy="5524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Contracted support, SLOs, regional strategy, compliance, support console, data warehouse.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B23360-F45A-43AE-9E5A-C93E045C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86450"/>
            <a:ext cx="971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Interpretation: cost does not kill the plan at base-case scale. The risk is letting media/analytics/email usage grow without unit economics and spend alerts.</a:t>
            </a:r>
          </a:p>
        </p:txBody>
      </p:sp>
    </p:spTree>
    <p:extLst>
      <p:ext uri="{BB962C8B-B14F-4D97-AF65-F5344CB8AC3E}">
        <p14:creationId xmlns:p14="http://schemas.microsoft.com/office/powerpoint/2010/main" val="19385630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3130F2B0-070D-4D2A-9108-09272628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E23947-9404-4590-A45E-7741A8E65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Storage envelope by content 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64C47F-A881-42BF-8E89-BDAF79CE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The first real cost multiplier is media, not notes or trip rows.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9663E3-6597-4FCE-8B60-F1AC0B49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100-gb-supabase-pro-storage-included">
            <a:extLst xmlns:a="http://schemas.openxmlformats.org/drawingml/2006/main">
              <a:ext uri="{FF2B5EF4-FFF2-40B4-BE49-F238E27FC236}">
                <a16:creationId xmlns:a16="http://schemas.microsoft.com/office/drawing/2014/main" id="{6D57D093-3016-47EB-85F4-DFA875C5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9065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5F6F3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100 GB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Supabase Pro storage included</a:t>
            </a:r>
          </a:p>
        </p:txBody>
      </p:sp>
      <p:sp>
        <p:nvSpPr>
          <p:cNvPr id="6" name="-21-tb-mo-storage-overage-at-current-pro-rate">
            <a:extLst xmlns:a="http://schemas.openxmlformats.org/drawingml/2006/main">
              <a:ext uri="{FF2B5EF4-FFF2-40B4-BE49-F238E27FC236}">
                <a16:creationId xmlns:a16="http://schemas.microsoft.com/office/drawing/2014/main" id="{8CF44180-E5E7-472C-81D9-48B6681D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390650"/>
            <a:ext cx="24003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2FFD1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~$21/TB/mo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storage overage at current Pro rate</a:t>
            </a:r>
          </a:p>
        </p:txBody>
      </p:sp>
      <p:sp>
        <p:nvSpPr>
          <p:cNvPr id="7" name="250-gb-egress-included-before-overage">
            <a:extLst xmlns:a="http://schemas.openxmlformats.org/drawingml/2006/main">
              <a:ext uri="{FF2B5EF4-FFF2-40B4-BE49-F238E27FC236}">
                <a16:creationId xmlns:a16="http://schemas.microsoft.com/office/drawing/2014/main" id="{4DC7BC9F-7E5C-4CD8-93AA-207C5A04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390650"/>
            <a:ext cx="21336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250 GB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egress included before overage</a:t>
            </a:r>
          </a:p>
        </p:txBody>
      </p:sp>
      <p:sp>
        <p:nvSpPr>
          <p:cNvPr id="8" name="100-mb-current-per-video-app-cap">
            <a:extLst xmlns:a="http://schemas.openxmlformats.org/drawingml/2006/main">
              <a:ext uri="{FF2B5EF4-FFF2-40B4-BE49-F238E27FC236}">
                <a16:creationId xmlns:a16="http://schemas.microsoft.com/office/drawing/2014/main" id="{92B9E944-DDD2-418B-8272-4F33CBE2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390650"/>
            <a:ext cx="21526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E9E6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100 MB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current per-video app cap</a:t>
            </a:r>
          </a:p>
        </p:txBody>
      </p:sp>
      <p:sp>
        <p:nvSpPr>
          <p:cNvPr id="9" name="content">
            <a:extLst xmlns:a="http://schemas.openxmlformats.org/drawingml/2006/main">
              <a:ext uri="{FF2B5EF4-FFF2-40B4-BE49-F238E27FC236}">
                <a16:creationId xmlns:a16="http://schemas.microsoft.com/office/drawing/2014/main" id="{2FF193FF-22B7-442C-B956-F28F4742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14650"/>
            <a:ext cx="15240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Content</a:t>
            </a:r>
          </a:p>
        </p:txBody>
      </p:sp>
      <p:sp>
        <p:nvSpPr>
          <p:cNvPr id="10" name="current-handling">
            <a:extLst xmlns:a="http://schemas.openxmlformats.org/drawingml/2006/main">
              <a:ext uri="{FF2B5EF4-FFF2-40B4-BE49-F238E27FC236}">
                <a16:creationId xmlns:a16="http://schemas.microsoft.com/office/drawing/2014/main" id="{A449DA94-083E-4BB5-AD49-555ADDE8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914650"/>
            <a:ext cx="22669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Current handling</a:t>
            </a:r>
          </a:p>
        </p:txBody>
      </p:sp>
      <p:sp>
        <p:nvSpPr>
          <p:cNvPr id="11" name="planning-size">
            <a:extLst xmlns:a="http://schemas.openxmlformats.org/drawingml/2006/main">
              <a:ext uri="{FF2B5EF4-FFF2-40B4-BE49-F238E27FC236}">
                <a16:creationId xmlns:a16="http://schemas.microsoft.com/office/drawing/2014/main" id="{B09AE6C4-7B71-47AD-9F1C-B84D631C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914650"/>
            <a:ext cx="1809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Planning size</a:t>
            </a:r>
          </a:p>
        </p:txBody>
      </p:sp>
      <p:sp>
        <p:nvSpPr>
          <p:cNvPr id="12" name="100-gb-supports-roughly">
            <a:extLst xmlns:a="http://schemas.openxmlformats.org/drawingml/2006/main">
              <a:ext uri="{FF2B5EF4-FFF2-40B4-BE49-F238E27FC236}">
                <a16:creationId xmlns:a16="http://schemas.microsoft.com/office/drawing/2014/main" id="{05B223F1-9B8C-4131-839C-BD79A581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14650"/>
            <a:ext cx="31432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100 GB supports roughly</a:t>
            </a:r>
          </a:p>
        </p:txBody>
      </p:sp>
      <p:sp>
        <p:nvSpPr>
          <p:cNvPr id="13" name="notes-plan-text">
            <a:extLst xmlns:a="http://schemas.openxmlformats.org/drawingml/2006/main">
              <a:ext uri="{FF2B5EF4-FFF2-40B4-BE49-F238E27FC236}">
                <a16:creationId xmlns:a16="http://schemas.microsoft.com/office/drawing/2014/main" id="{A073AE13-BB77-4824-9FA9-9F1D436C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152400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Notes / plan text</a:t>
            </a:r>
          </a:p>
        </p:txBody>
      </p:sp>
      <p:sp>
        <p:nvSpPr>
          <p:cNvPr id="14" name="postgres-rows">
            <a:extLst xmlns:a="http://schemas.openxmlformats.org/drawingml/2006/main">
              <a:ext uri="{FF2B5EF4-FFF2-40B4-BE49-F238E27FC236}">
                <a16:creationId xmlns:a16="http://schemas.microsoft.com/office/drawing/2014/main" id="{CCE99EE0-8278-4589-A1FF-D7195327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390900"/>
            <a:ext cx="22669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Postgres rows</a:t>
            </a:r>
          </a:p>
        </p:txBody>
      </p:sp>
      <p:sp>
        <p:nvSpPr>
          <p:cNvPr id="15" name="1-5-kb-each">
            <a:extLst xmlns:a="http://schemas.openxmlformats.org/drawingml/2006/main">
              <a:ext uri="{FF2B5EF4-FFF2-40B4-BE49-F238E27FC236}">
                <a16:creationId xmlns:a16="http://schemas.microsoft.com/office/drawing/2014/main" id="{CB84A418-04DF-4018-B569-669FE191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390900"/>
            <a:ext cx="18097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1-5 KB each</a:t>
            </a:r>
          </a:p>
        </p:txBody>
      </p:sp>
      <p:sp>
        <p:nvSpPr>
          <p:cNvPr id="16" name="millions-not-the-constraint">
            <a:extLst xmlns:a="http://schemas.openxmlformats.org/drawingml/2006/main">
              <a:ext uri="{FF2B5EF4-FFF2-40B4-BE49-F238E27FC236}">
                <a16:creationId xmlns:a16="http://schemas.microsoft.com/office/drawing/2014/main" id="{5D3CE9F5-5D56-4278-9118-9F6CB89A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90900"/>
            <a:ext cx="31432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Millions; not the constraint</a:t>
            </a:r>
          </a:p>
        </p:txBody>
      </p:sp>
      <p:sp>
        <p:nvSpPr>
          <p:cNvPr id="17" name="receipts">
            <a:extLst xmlns:a="http://schemas.openxmlformats.org/drawingml/2006/main">
              <a:ext uri="{FF2B5EF4-FFF2-40B4-BE49-F238E27FC236}">
                <a16:creationId xmlns:a16="http://schemas.microsoft.com/office/drawing/2014/main" id="{50CAE399-381D-4F98-AA61-C2A4864A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152400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Receipts</a:t>
            </a:r>
          </a:p>
        </p:txBody>
      </p:sp>
      <p:sp>
        <p:nvSpPr>
          <p:cNvPr id="18" name="stored-as-original-image-bytes">
            <a:extLst xmlns:a="http://schemas.openxmlformats.org/drawingml/2006/main">
              <a:ext uri="{FF2B5EF4-FFF2-40B4-BE49-F238E27FC236}">
                <a16:creationId xmlns:a16="http://schemas.microsoft.com/office/drawing/2014/main" id="{0FF7CEE9-5858-4D5D-8633-DFF11490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886200"/>
            <a:ext cx="22669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Stored as original image bytes</a:t>
            </a:r>
          </a:p>
        </p:txBody>
      </p:sp>
      <p:sp>
        <p:nvSpPr>
          <p:cNvPr id="19" name="0-5-1-mb-each">
            <a:extLst xmlns:a="http://schemas.openxmlformats.org/drawingml/2006/main">
              <a:ext uri="{FF2B5EF4-FFF2-40B4-BE49-F238E27FC236}">
                <a16:creationId xmlns:a16="http://schemas.microsoft.com/office/drawing/2014/main" id="{0439D434-96A5-45A6-93A0-BC4E0A1C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886200"/>
            <a:ext cx="18097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0.5-1 MB each</a:t>
            </a:r>
          </a:p>
        </p:txBody>
      </p:sp>
      <p:sp>
        <p:nvSpPr>
          <p:cNvPr id="20" name="100k-receipts-at-1-mb">
            <a:extLst xmlns:a="http://schemas.openxmlformats.org/drawingml/2006/main">
              <a:ext uri="{FF2B5EF4-FFF2-40B4-BE49-F238E27FC236}">
                <a16:creationId xmlns:a16="http://schemas.microsoft.com/office/drawing/2014/main" id="{84C7B505-A775-4E39-A7FC-A32DA1B3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86200"/>
            <a:ext cx="31432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100k receipts at 1 MB</a:t>
            </a:r>
          </a:p>
        </p:txBody>
      </p:sp>
      <p:sp>
        <p:nvSpPr>
          <p:cNvPr id="21" name="photos">
            <a:extLst xmlns:a="http://schemas.openxmlformats.org/drawingml/2006/main">
              <a:ext uri="{FF2B5EF4-FFF2-40B4-BE49-F238E27FC236}">
                <a16:creationId xmlns:a16="http://schemas.microsoft.com/office/drawing/2014/main" id="{F339BAED-B90E-403A-9344-A37336DF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152400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Photos</a:t>
            </a:r>
          </a:p>
        </p:txBody>
      </p:sp>
      <p:sp>
        <p:nvSpPr>
          <p:cNvPr id="22" name="stored-as-device-original-bytes">
            <a:extLst xmlns:a="http://schemas.openxmlformats.org/drawingml/2006/main">
              <a:ext uri="{FF2B5EF4-FFF2-40B4-BE49-F238E27FC236}">
                <a16:creationId xmlns:a16="http://schemas.microsoft.com/office/drawing/2014/main" id="{9A6E3165-9988-44F0-9226-E8E6DD97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381500"/>
            <a:ext cx="22669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Stored as device/original bytes</a:t>
            </a:r>
          </a:p>
        </p:txBody>
      </p:sp>
      <p:sp>
        <p:nvSpPr>
          <p:cNvPr id="23" name="2-5-mb-each">
            <a:extLst xmlns:a="http://schemas.openxmlformats.org/drawingml/2006/main">
              <a:ext uri="{FF2B5EF4-FFF2-40B4-BE49-F238E27FC236}">
                <a16:creationId xmlns:a16="http://schemas.microsoft.com/office/drawing/2014/main" id="{DABDD842-ADF3-4190-818B-456AD6FF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381500"/>
            <a:ext cx="18097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2-5 MB each</a:t>
            </a:r>
          </a:p>
        </p:txBody>
      </p:sp>
      <p:sp>
        <p:nvSpPr>
          <p:cNvPr id="24" name="33k-photos-at-3-mb">
            <a:extLst xmlns:a="http://schemas.openxmlformats.org/drawingml/2006/main">
              <a:ext uri="{FF2B5EF4-FFF2-40B4-BE49-F238E27FC236}">
                <a16:creationId xmlns:a16="http://schemas.microsoft.com/office/drawing/2014/main" id="{5B573395-7704-44F8-AA2E-6FFC3F8F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81500"/>
            <a:ext cx="31432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33k photos at 3 MB</a:t>
            </a:r>
          </a:p>
        </p:txBody>
      </p:sp>
      <p:sp>
        <p:nvSpPr>
          <p:cNvPr id="25" name="trip-backgrounds-avatars">
            <a:extLst xmlns:a="http://schemas.openxmlformats.org/drawingml/2006/main">
              <a:ext uri="{FF2B5EF4-FFF2-40B4-BE49-F238E27FC236}">
                <a16:creationId xmlns:a16="http://schemas.microsoft.com/office/drawing/2014/main" id="{B3B3B8F8-189D-4FAA-8576-92DD95EA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52400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Trip backgrounds / avatars</a:t>
            </a:r>
          </a:p>
        </p:txBody>
      </p:sp>
      <p:sp>
        <p:nvSpPr>
          <p:cNvPr id="26" name="stored-as-original-image-bytes">
            <a:extLst xmlns:a="http://schemas.openxmlformats.org/drawingml/2006/main">
              <a:ext uri="{FF2B5EF4-FFF2-40B4-BE49-F238E27FC236}">
                <a16:creationId xmlns:a16="http://schemas.microsoft.com/office/drawing/2014/main" id="{4E02DEC4-F80E-4AE3-A777-D660E770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76800"/>
            <a:ext cx="22669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Stored as original image bytes</a:t>
            </a:r>
          </a:p>
        </p:txBody>
      </p:sp>
      <p:sp>
        <p:nvSpPr>
          <p:cNvPr id="27" name="0-5-5-mb-each">
            <a:extLst xmlns:a="http://schemas.openxmlformats.org/drawingml/2006/main">
              <a:ext uri="{FF2B5EF4-FFF2-40B4-BE49-F238E27FC236}">
                <a16:creationId xmlns:a16="http://schemas.microsoft.com/office/drawing/2014/main" id="{EA20B839-0092-4A2A-A687-D67DE056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876800"/>
            <a:ext cx="18097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0.5-5 MB each</a:t>
            </a:r>
          </a:p>
        </p:txBody>
      </p:sp>
      <p:sp>
        <p:nvSpPr>
          <p:cNvPr id="28" name="fine-at-beta-compress-later">
            <a:extLst xmlns:a="http://schemas.openxmlformats.org/drawingml/2006/main">
              <a:ext uri="{FF2B5EF4-FFF2-40B4-BE49-F238E27FC236}">
                <a16:creationId xmlns:a16="http://schemas.microsoft.com/office/drawing/2014/main" id="{8DA7054B-4DF3-4932-9F55-18FF8DE3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876800"/>
            <a:ext cx="31432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Fine at beta; compress later</a:t>
            </a:r>
          </a:p>
        </p:txBody>
      </p:sp>
      <p:sp>
        <p:nvSpPr>
          <p:cNvPr id="29" name="videos">
            <a:extLst xmlns:a="http://schemas.openxmlformats.org/drawingml/2006/main">
              <a:ext uri="{FF2B5EF4-FFF2-40B4-BE49-F238E27FC236}">
                <a16:creationId xmlns:a16="http://schemas.microsoft.com/office/drawing/2014/main" id="{2F393910-066A-4F87-89DF-2E3862D7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72100"/>
            <a:ext cx="152400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Videos</a:t>
            </a:r>
          </a:p>
        </p:txBody>
      </p:sp>
      <p:sp>
        <p:nvSpPr>
          <p:cNvPr id="30" name="stored-as-original-bytes-app-caps-upload-cache">
            <a:extLst xmlns:a="http://schemas.openxmlformats.org/drawingml/2006/main">
              <a:ext uri="{FF2B5EF4-FFF2-40B4-BE49-F238E27FC236}">
                <a16:creationId xmlns:a16="http://schemas.microsoft.com/office/drawing/2014/main" id="{69F55128-6371-43F3-B852-E535A45B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372100"/>
            <a:ext cx="22669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Stored as original bytes; app caps upload/cache</a:t>
            </a:r>
          </a:p>
        </p:txBody>
      </p:sp>
      <p:sp>
        <p:nvSpPr>
          <p:cNvPr id="31" name="up-to-100-mb-each">
            <a:extLst xmlns:a="http://schemas.openxmlformats.org/drawingml/2006/main">
              <a:ext uri="{FF2B5EF4-FFF2-40B4-BE49-F238E27FC236}">
                <a16:creationId xmlns:a16="http://schemas.microsoft.com/office/drawing/2014/main" id="{4AA9A78F-4D23-44DA-ACFE-C13260E3E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372100"/>
            <a:ext cx="18097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up to 100 MB each</a:t>
            </a:r>
          </a:p>
        </p:txBody>
      </p:sp>
      <p:sp>
        <p:nvSpPr>
          <p:cNvPr id="32" name="1k-max-size-videos">
            <a:extLst xmlns:a="http://schemas.openxmlformats.org/drawingml/2006/main">
              <a:ext uri="{FF2B5EF4-FFF2-40B4-BE49-F238E27FC236}">
                <a16:creationId xmlns:a16="http://schemas.microsoft.com/office/drawing/2014/main" id="{B56FF600-E4A9-4691-8B9F-84D7A829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72100"/>
            <a:ext cx="3143250" cy="4191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1k max-size videos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B56F16D-D8E3-47E7-8A35-063BC1C2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579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Key nuance: storage GB is cheap; egress, previews, retries, backups, and user expectation of "always available media" are what turn media into an operating cost.</a:t>
            </a:r>
          </a:p>
        </p:txBody>
      </p:sp>
    </p:spTree>
    <p:extLst>
      <p:ext uri="{BB962C8B-B14F-4D97-AF65-F5344CB8AC3E}">
        <p14:creationId xmlns:p14="http://schemas.microsoft.com/office/powerpoint/2010/main" val="1311659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E9F4CBAC-A8FE-42F5-95EA-196C9F3F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BC5C43-A1C2-470B-9B12-91CBED1C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Tier policy: keep media generous, not unlimited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16223F-4FE4-48A6-9693-D1CB95D7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These are product guardrails to validate against the Excel opex assumptions.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7EF77E-02AF-4F2B-9979-D3344BA7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tier">
            <a:extLst xmlns:a="http://schemas.openxmlformats.org/drawingml/2006/main">
              <a:ext uri="{FF2B5EF4-FFF2-40B4-BE49-F238E27FC236}">
                <a16:creationId xmlns:a16="http://schemas.microsoft.com/office/drawing/2014/main" id="{38F37044-1FA8-435B-A389-B7BD51E6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11811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Tier</a:t>
            </a:r>
          </a:p>
        </p:txBody>
      </p:sp>
      <p:sp>
        <p:nvSpPr>
          <p:cNvPr id="6" name="good-default-promise">
            <a:extLst xmlns:a="http://schemas.openxmlformats.org/drawingml/2006/main">
              <a:ext uri="{FF2B5EF4-FFF2-40B4-BE49-F238E27FC236}">
                <a16:creationId xmlns:a16="http://schemas.microsoft.com/office/drawing/2014/main" id="{B139FA37-F7D0-4C53-A4A4-DD326A69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504950"/>
            <a:ext cx="26098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Good default promise</a:t>
            </a:r>
          </a:p>
        </p:txBody>
      </p:sp>
      <p:sp>
        <p:nvSpPr>
          <p:cNvPr id="7" name="media-guardrail">
            <a:extLst xmlns:a="http://schemas.openxmlformats.org/drawingml/2006/main">
              <a:ext uri="{FF2B5EF4-FFF2-40B4-BE49-F238E27FC236}">
                <a16:creationId xmlns:a16="http://schemas.microsoft.com/office/drawing/2014/main" id="{90267BB4-A96A-4302-B242-2398055F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504950"/>
            <a:ext cx="24765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Media guardrail</a:t>
            </a:r>
          </a:p>
        </p:txBody>
      </p:sp>
      <p:sp>
        <p:nvSpPr>
          <p:cNvPr id="8" name="scaling-action">
            <a:extLst xmlns:a="http://schemas.openxmlformats.org/drawingml/2006/main">
              <a:ext uri="{FF2B5EF4-FFF2-40B4-BE49-F238E27FC236}">
                <a16:creationId xmlns:a16="http://schemas.microsoft.com/office/drawing/2014/main" id="{9FF6BA06-2C5D-43D2-999A-4ACE568C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04950"/>
            <a:ext cx="29146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2F36"/>
          </a:solidFill>
          <a:ln xmlns:a="http://schemas.openxmlformats.org/drawingml/2006/main" w="9525">
            <a:solidFill>
              <a:srgbClr val="102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Scaling action</a:t>
            </a:r>
          </a:p>
        </p:txBody>
      </p:sp>
      <p:sp>
        <p:nvSpPr>
          <p:cNvPr id="9" name="free-vamigo">
            <a:extLst xmlns:a="http://schemas.openxmlformats.org/drawingml/2006/main">
              <a:ext uri="{FF2B5EF4-FFF2-40B4-BE49-F238E27FC236}">
                <a16:creationId xmlns:a16="http://schemas.microsoft.com/office/drawing/2014/main" id="{8EB95599-021F-43B0-B2DE-AAB89814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118110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Free / Vamigo</a:t>
            </a:r>
          </a:p>
        </p:txBody>
      </p:sp>
      <p:sp>
        <p:nvSpPr>
          <p:cNvPr id="10" name="trips-notes-receipts-small-memory-sharing">
            <a:extLst xmlns:a="http://schemas.openxmlformats.org/drawingml/2006/main">
              <a:ext uri="{FF2B5EF4-FFF2-40B4-BE49-F238E27FC236}">
                <a16:creationId xmlns:a16="http://schemas.microsoft.com/office/drawing/2014/main" id="{066D5580-2FD7-4C18-910B-19EFA93B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981200"/>
            <a:ext cx="260985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Trips, notes, receipts, small memory sharing</a:t>
            </a:r>
          </a:p>
        </p:txBody>
      </p:sp>
      <p:sp>
        <p:nvSpPr>
          <p:cNvPr id="11" name="small-photo-video-quota-no-unlimited-video">
            <a:extLst xmlns:a="http://schemas.openxmlformats.org/drawingml/2006/main">
              <a:ext uri="{FF2B5EF4-FFF2-40B4-BE49-F238E27FC236}">
                <a16:creationId xmlns:a16="http://schemas.microsoft.com/office/drawing/2014/main" id="{59FC965E-E56D-4B88-A089-56E60B9A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81200"/>
            <a:ext cx="247650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Small photo/video quota; no unlimited video</a:t>
            </a:r>
          </a:p>
        </p:txBody>
      </p:sp>
      <p:sp>
        <p:nvSpPr>
          <p:cNvPr id="12" name="use-local-cache-cloud-metadata-nudge-upgrade-before-heavy-media">
            <a:extLst xmlns:a="http://schemas.openxmlformats.org/drawingml/2006/main">
              <a:ext uri="{FF2B5EF4-FFF2-40B4-BE49-F238E27FC236}">
                <a16:creationId xmlns:a16="http://schemas.microsoft.com/office/drawing/2014/main" id="{CC70CC72-8FE2-4E15-9A48-BD99C0A5D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981200"/>
            <a:ext cx="291465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Use local cache + cloud metadata; nudge upgrade before heavy media</a:t>
            </a:r>
          </a:p>
        </p:txBody>
      </p:sp>
      <p:sp>
        <p:nvSpPr>
          <p:cNvPr id="13" name="voyager">
            <a:extLst xmlns:a="http://schemas.openxmlformats.org/drawingml/2006/main">
              <a:ext uri="{FF2B5EF4-FFF2-40B4-BE49-F238E27FC236}">
                <a16:creationId xmlns:a16="http://schemas.microsoft.com/office/drawing/2014/main" id="{BDA06C18-757C-4CC7-96FC-6C472B7D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18110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Voyager</a:t>
            </a:r>
          </a:p>
        </p:txBody>
      </p:sp>
      <p:sp>
        <p:nvSpPr>
          <p:cNvPr id="14" name="full-memories-for-normal-trip-use">
            <a:extLst xmlns:a="http://schemas.openxmlformats.org/drawingml/2006/main">
              <a:ext uri="{FF2B5EF4-FFF2-40B4-BE49-F238E27FC236}">
                <a16:creationId xmlns:a16="http://schemas.microsoft.com/office/drawing/2014/main" id="{663E4192-2CC9-4C69-8F55-DD4913EA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762250"/>
            <a:ext cx="260985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Full memories for normal trip use</a:t>
            </a:r>
          </a:p>
        </p:txBody>
      </p:sp>
      <p:sp>
        <p:nvSpPr>
          <p:cNvPr id="15" name="per-trip-account-quota-and-retention-clarity">
            <a:extLst xmlns:a="http://schemas.openxmlformats.org/drawingml/2006/main">
              <a:ext uri="{FF2B5EF4-FFF2-40B4-BE49-F238E27FC236}">
                <a16:creationId xmlns:a16="http://schemas.microsoft.com/office/drawing/2014/main" id="{B1C860C0-48AD-4177-83B3-FB6BF447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62250"/>
            <a:ext cx="247650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Per-trip/account quota and retention clarity</a:t>
            </a:r>
          </a:p>
        </p:txBody>
      </p:sp>
      <p:sp>
        <p:nvSpPr>
          <p:cNvPr id="16" name="compress-images-generate-thumbnails-monitor-gb-per-payer">
            <a:extLst xmlns:a="http://schemas.openxmlformats.org/drawingml/2006/main">
              <a:ext uri="{FF2B5EF4-FFF2-40B4-BE49-F238E27FC236}">
                <a16:creationId xmlns:a16="http://schemas.microsoft.com/office/drawing/2014/main" id="{FEE61738-CEBF-4AE1-B1CB-AB77FE55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762250"/>
            <a:ext cx="291465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Compress images, generate thumbnails, monitor GB per payer</a:t>
            </a:r>
          </a:p>
        </p:txBody>
      </p:sp>
      <p:sp>
        <p:nvSpPr>
          <p:cNvPr id="17" name="pioneer">
            <a:extLst xmlns:a="http://schemas.openxmlformats.org/drawingml/2006/main">
              <a:ext uri="{FF2B5EF4-FFF2-40B4-BE49-F238E27FC236}">
                <a16:creationId xmlns:a16="http://schemas.microsoft.com/office/drawing/2014/main" id="{068D4742-347B-404A-A650-82EC6D36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118110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Pioneer</a:t>
            </a:r>
          </a:p>
        </p:txBody>
      </p:sp>
      <p:sp>
        <p:nvSpPr>
          <p:cNvPr id="18" name="action-cam-high-media-traveler-profile">
            <a:extLst xmlns:a="http://schemas.openxmlformats.org/drawingml/2006/main">
              <a:ext uri="{FF2B5EF4-FFF2-40B4-BE49-F238E27FC236}">
                <a16:creationId xmlns:a16="http://schemas.microsoft.com/office/drawing/2014/main" id="{9F93CEC1-CBA5-4C70-B99B-AB10D138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543300"/>
            <a:ext cx="260985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Action-cam / high-media traveler profile</a:t>
            </a:r>
          </a:p>
        </p:txBody>
      </p:sp>
      <p:sp>
        <p:nvSpPr>
          <p:cNvPr id="19" name="fair-use-cap-or-explicit-archive-offload-policy">
            <a:extLst xmlns:a="http://schemas.openxmlformats.org/drawingml/2006/main">
              <a:ext uri="{FF2B5EF4-FFF2-40B4-BE49-F238E27FC236}">
                <a16:creationId xmlns:a16="http://schemas.microsoft.com/office/drawing/2014/main" id="{99EA2872-8D3A-4465-959A-C835EEB9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43300"/>
            <a:ext cx="247650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Fair-use cap or explicit archive/offload policy</a:t>
            </a:r>
          </a:p>
        </p:txBody>
      </p:sp>
      <p:sp>
        <p:nvSpPr>
          <p:cNvPr id="20" name="move-heavy-media-to-lifecycle-managed-object-storage-cdn-path">
            <a:extLst xmlns:a="http://schemas.openxmlformats.org/drawingml/2006/main">
              <a:ext uri="{FF2B5EF4-FFF2-40B4-BE49-F238E27FC236}">
                <a16:creationId xmlns:a16="http://schemas.microsoft.com/office/drawing/2014/main" id="{EAFF57D3-8122-44B9-B1C4-23EB342A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43300"/>
            <a:ext cx="291465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1F6F5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Move heavy media to lifecycle-managed object storage/CDN path</a:t>
            </a:r>
          </a:p>
        </p:txBody>
      </p:sp>
      <p:sp>
        <p:nvSpPr>
          <p:cNvPr id="21" name="operator">
            <a:extLst xmlns:a="http://schemas.openxmlformats.org/drawingml/2006/main">
              <a:ext uri="{FF2B5EF4-FFF2-40B4-BE49-F238E27FC236}">
                <a16:creationId xmlns:a16="http://schemas.microsoft.com/office/drawing/2014/main" id="{5D8F30E3-B456-4B3D-A559-ACDDC573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118110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Operator</a:t>
            </a:r>
          </a:p>
        </p:txBody>
      </p:sp>
      <p:sp>
        <p:nvSpPr>
          <p:cNvPr id="22" name="commercial-group-workflows">
            <a:extLst xmlns:a="http://schemas.openxmlformats.org/drawingml/2006/main">
              <a:ext uri="{FF2B5EF4-FFF2-40B4-BE49-F238E27FC236}">
                <a16:creationId xmlns:a16="http://schemas.microsoft.com/office/drawing/2014/main" id="{55B1C376-7464-4D25-8293-990ACC94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324350"/>
            <a:ext cx="260985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Commercial/group workflows</a:t>
            </a:r>
          </a:p>
        </p:txBody>
      </p:sp>
      <p:sp>
        <p:nvSpPr>
          <p:cNvPr id="23" name="separate-tenant-media-budget">
            <a:extLst xmlns:a="http://schemas.openxmlformats.org/drawingml/2006/main">
              <a:ext uri="{FF2B5EF4-FFF2-40B4-BE49-F238E27FC236}">
                <a16:creationId xmlns:a16="http://schemas.microsoft.com/office/drawing/2014/main" id="{5BA52D30-8F56-4B08-86D6-438D0A2B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24350"/>
            <a:ext cx="247650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Separate tenant/media budget</a:t>
            </a:r>
          </a:p>
        </p:txBody>
      </p:sp>
      <p:sp>
        <p:nvSpPr>
          <p:cNvPr id="24" name="contractual-limits-support-sla-data-export-path">
            <a:extLst xmlns:a="http://schemas.openxmlformats.org/drawingml/2006/main">
              <a:ext uri="{FF2B5EF4-FFF2-40B4-BE49-F238E27FC236}">
                <a16:creationId xmlns:a16="http://schemas.microsoft.com/office/drawing/2014/main" id="{1F7DA22E-4645-4126-866B-16C52F32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324350"/>
            <a:ext cx="291465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1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Contractual limits, support SLA, data export path</a:t>
            </a:r>
          </a:p>
        </p:txBody>
      </p:sp>
      <p:sp>
        <p:nvSpPr>
          <p:cNvPr id="25" name="bullet-dot">
            <a:extLst xmlns:a="http://schemas.openxmlformats.org/drawingml/2006/main">
              <a:ext uri="{FF2B5EF4-FFF2-40B4-BE49-F238E27FC236}">
                <a16:creationId xmlns:a16="http://schemas.microsoft.com/office/drawing/2014/main" id="{EE7FA022-FDC5-42D5-8FCE-3F7E1886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1AD641-67E9-47BB-88BD-816464A1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91100"/>
            <a:ext cx="9639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Before shipping "drop local cache" or archive/offload controls, storagePath round-trip must be proven for every media type.</a:t>
            </a:r>
          </a:p>
        </p:txBody>
      </p:sp>
      <p:sp>
        <p:nvSpPr>
          <p:cNvPr id="27" name="bullet-dot">
            <a:extLst xmlns:a="http://schemas.openxmlformats.org/drawingml/2006/main">
              <a:ext uri="{FF2B5EF4-FFF2-40B4-BE49-F238E27FC236}">
                <a16:creationId xmlns:a16="http://schemas.microsoft.com/office/drawing/2014/main" id="{983CB6D7-47E9-4480-AE67-0E92565B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911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4C36DA-D5EA-4C62-8436-776B9699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14950"/>
            <a:ext cx="9639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Add server-side image normalization/thumbnails before wide media growth; current app stores original bytes.</a:t>
            </a:r>
          </a:p>
        </p:txBody>
      </p:sp>
      <p:sp>
        <p:nvSpPr>
          <p:cNvPr id="29" name="bullet-dot">
            <a:extLst xmlns:a="http://schemas.openxmlformats.org/drawingml/2006/main">
              <a:ext uri="{FF2B5EF4-FFF2-40B4-BE49-F238E27FC236}">
                <a16:creationId xmlns:a16="http://schemas.microsoft.com/office/drawing/2014/main" id="{E9C7EE3E-AFB3-4E3F-BA57-B464BADD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150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D363BD-FCA9-4529-A308-2C7DA637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38800"/>
            <a:ext cx="9639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Back up object bytes separately; database PITR does not restore Supabase Storage objects.</a:t>
            </a:r>
          </a:p>
        </p:txBody>
      </p:sp>
      <p:sp>
        <p:nvSpPr>
          <p:cNvPr id="31" name="bullet-dot">
            <a:extLst xmlns:a="http://schemas.openxmlformats.org/drawingml/2006/main">
              <a:ext uri="{FF2B5EF4-FFF2-40B4-BE49-F238E27FC236}">
                <a16:creationId xmlns:a16="http://schemas.microsoft.com/office/drawing/2014/main" id="{190F3C35-41BE-4842-B790-581C9E77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388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92EC07-E5A8-460A-B255-56A44FB4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962650"/>
            <a:ext cx="9639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Track GB stored, GB egressed, media downloads per active trip, and failed rehydrations as launch KPIs.</a:t>
            </a:r>
          </a:p>
        </p:txBody>
      </p:sp>
    </p:spTree>
    <p:extLst>
      <p:ext uri="{BB962C8B-B14F-4D97-AF65-F5344CB8AC3E}">
        <p14:creationId xmlns:p14="http://schemas.microsoft.com/office/powerpoint/2010/main" val="10697348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9DD95CB1-F6C8-4BE6-9A43-53A45945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0D67BC-F774-49CA-9DA2-07A5E6A7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Financial model stays authoritative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37E517-A79D-4940-BF4D-691DC378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Do not let this deck become a second business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E9583-1A6B-4138-B602-2F4472FD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90E884-D80D-4320-9CB1-C6FE3EAB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32385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E5F6F3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48F865-88D0-41C1-A68E-5E5403F3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6210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Where ratios live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18BDB0-AB82-44D0-BA15-2089D78F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57375"/>
            <a:ext cx="28956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Costs vs income, LTV:CAC, payback, cash runway, and scenarios live in docs/business/Vamo_Financial_Model.xlsx. Update that workbook first.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9196EA-E4B3-4C5E-8C25-AB6223FB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428750"/>
            <a:ext cx="32385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64427C-62B4-4D74-90A0-58764422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56210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What this deck may say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1E18A7-07B2-4C0A-8E32-A63A3470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857375"/>
            <a:ext cx="28956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This deck may explain dependency risk, scale breakpoints, and storage drivers. It should reference workbook assumptions, not duplicate them.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180E23-9DAB-46BA-9F87-50EE2A38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2385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5DF"/>
          </a:solidFill>
          <a:ln xmlns:a="http://schemas.openxmlformats.org/drawingml/2006/main" w="9525">
            <a:solidFill>
              <a:srgbClr val="DDE5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49CE5-70A0-48F6-BA40-268F8921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6210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What storage changes imply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405F92-ADBC-4763-85C4-4A1CAC1A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57375"/>
            <a:ext cx="28956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If media quotas, compression, CDN, retention, or provider choices change, update Voyager/Pioneer opex and infra assumptions in the workbook.</a:t>
            </a:r>
          </a:p>
        </p:txBody>
      </p:sp>
      <p:sp>
        <p:nvSpPr>
          <p:cNvPr id="14" name="-0-90-mo-voyager-opex-assumption">
            <a:extLst xmlns:a="http://schemas.openxmlformats.org/drawingml/2006/main">
              <a:ext uri="{FF2B5EF4-FFF2-40B4-BE49-F238E27FC236}">
                <a16:creationId xmlns:a16="http://schemas.microsoft.com/office/drawing/2014/main" id="{C98569B1-5977-440D-9126-CE86E1CB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00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2FFD1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$0.90/mo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Voyager opex assumption</a:t>
            </a:r>
          </a:p>
        </p:txBody>
      </p:sp>
      <p:sp>
        <p:nvSpPr>
          <p:cNvPr id="15" name="-3-10-mo-pioneer-opex-assumption">
            <a:extLst xmlns:a="http://schemas.openxmlformats.org/drawingml/2006/main">
              <a:ext uri="{FF2B5EF4-FFF2-40B4-BE49-F238E27FC236}">
                <a16:creationId xmlns:a16="http://schemas.microsoft.com/office/drawing/2014/main" id="{AA2CD81D-B7A4-4895-A7A9-A8BCE0A2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81450"/>
            <a:ext cx="2095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E9E6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$3.10/mo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Pioneer opex assumption</a:t>
            </a:r>
          </a:p>
        </p:txBody>
      </p:sp>
      <p:sp>
        <p:nvSpPr>
          <p:cNvPr id="16" name="-0-03-mau-infra-assumption">
            <a:extLst xmlns:a="http://schemas.openxmlformats.org/drawingml/2006/main">
              <a:ext uri="{FF2B5EF4-FFF2-40B4-BE49-F238E27FC236}">
                <a16:creationId xmlns:a16="http://schemas.microsoft.com/office/drawing/2014/main" id="{9EED9621-401A-4BF0-AEF6-1CAA3F5E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981450"/>
            <a:ext cx="2000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$0.03/MAU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infra assumption</a:t>
            </a:r>
          </a:p>
        </p:txBody>
      </p:sp>
      <p:sp>
        <p:nvSpPr>
          <p:cNvPr id="17" name="-520-mo-fixed-tools-ops-assumption">
            <a:extLst xmlns:a="http://schemas.openxmlformats.org/drawingml/2006/main">
              <a:ext uri="{FF2B5EF4-FFF2-40B4-BE49-F238E27FC236}">
                <a16:creationId xmlns:a16="http://schemas.microsoft.com/office/drawing/2014/main" id="{9125B50D-1B9D-4D4C-B9E9-BEA60240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81450"/>
            <a:ext cx="22860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1E8F8"/>
          </a:solidFill>
          <a:ln xmlns:a="http://schemas.openxmlformats.org/drawingml/2006/main" w="9525">
            <a:solidFill>
              <a:srgbClr val="C7D2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$520/mo</a:t>
            </a:r>
          </a:p>
          <a:p xmlns:a="http://schemas.openxmlformats.org/drawingml/2006/main">
            <a:pPr algn="ctr"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fixed tools/ops assumption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1EA623-ADEC-4EBA-8AAD-9AEB6C75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864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Rule: product tier promises are financial commitments. Storage generosity is fine only when the workbook still supports margin at the expected media mix.</a:t>
            </a:r>
          </a:p>
        </p:txBody>
      </p:sp>
    </p:spTree>
    <p:extLst>
      <p:ext uri="{BB962C8B-B14F-4D97-AF65-F5344CB8AC3E}">
        <p14:creationId xmlns:p14="http://schemas.microsoft.com/office/powerpoint/2010/main" val="77573201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ECE8AFD3-FD83-4163-975F-FF7D4736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351063-7A03-4277-ADC0-3B2202D7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Recommendations before widening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1CF271-C1F1-44D8-A7A0-AF0AC00F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Keep the stack managed, but put guardrails where success gets expensive.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5415B6-6682-4F6C-8CCD-2838333A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bullet-dot">
            <a:extLst xmlns:a="http://schemas.openxmlformats.org/drawingml/2006/main">
              <a:ext uri="{FF2B5EF4-FFF2-40B4-BE49-F238E27FC236}">
                <a16:creationId xmlns:a16="http://schemas.microsoft.com/office/drawing/2014/main" id="{0E33DFDB-5ECF-4B28-8956-B23379D9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240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3CA585-E15A-4BAD-8C51-7076CAEC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47800"/>
            <a:ext cx="982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Close the remaining launch gates: DR/PITR proof, Crashlytics device proof, App Links device proof, and prod Brevo secret cleanup.</a:t>
            </a:r>
          </a:p>
        </p:txBody>
      </p:sp>
      <p:sp>
        <p:nvSpPr>
          <p:cNvPr id="7" name="bullet-dot">
            <a:extLst xmlns:a="http://schemas.openxmlformats.org/drawingml/2006/main">
              <a:ext uri="{FF2B5EF4-FFF2-40B4-BE49-F238E27FC236}">
                <a16:creationId xmlns:a16="http://schemas.microsoft.com/office/drawing/2014/main" id="{4C87F246-E5B6-4C9A-BC16-1E8E8C8E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40D329-B3AF-423A-A25E-6816BB08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71675"/>
            <a:ext cx="982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Add a weekly provider dashboard: Supabase MAU/storage/egress/CPU, OTP sends, fallback sends, PostHog events, crash-free users.</a:t>
            </a:r>
          </a:p>
        </p:txBody>
      </p:sp>
      <p:sp>
        <p:nvSpPr>
          <p:cNvPr id="9" name="bullet-dot">
            <a:extLst xmlns:a="http://schemas.openxmlformats.org/drawingml/2006/main">
              <a:ext uri="{FF2B5EF4-FFF2-40B4-BE49-F238E27FC236}">
                <a16:creationId xmlns:a16="http://schemas.microsoft.com/office/drawing/2014/main" id="{7D28C206-1D53-496D-8B54-C96B001A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90986-BF1D-4D27-BC18-7C6E1B91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95550"/>
            <a:ext cx="982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Define cost per active trip and cost per paying user before TripReel/action-cam; do not ship unlimited media without fair-use controls.</a:t>
            </a:r>
          </a:p>
        </p:txBody>
      </p:sp>
      <p:sp>
        <p:nvSpPr>
          <p:cNvPr id="11" name="bullet-dot">
            <a:extLst xmlns:a="http://schemas.openxmlformats.org/drawingml/2006/main">
              <a:ext uri="{FF2B5EF4-FFF2-40B4-BE49-F238E27FC236}">
                <a16:creationId xmlns:a16="http://schemas.microsoft.com/office/drawing/2014/main" id="{62D29C03-B881-4FC5-978D-40039DA0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EA1C41-3F9B-43C4-806D-5DAC3BCF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19425"/>
            <a:ext cx="982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Add Storage object-byte backup/replication; Supabase database backups do not cover object bytes.</a:t>
            </a:r>
          </a:p>
        </p:txBody>
      </p:sp>
      <p:sp>
        <p:nvSpPr>
          <p:cNvPr id="13" name="bullet-dot">
            <a:extLst xmlns:a="http://schemas.openxmlformats.org/drawingml/2006/main">
              <a:ext uri="{FF2B5EF4-FFF2-40B4-BE49-F238E27FC236}">
                <a16:creationId xmlns:a16="http://schemas.microsoft.com/office/drawing/2014/main" id="{CADDB819-37AF-4D7E-8837-B5D91F869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787294-147C-45CE-A401-8007691D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43300"/>
            <a:ext cx="982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At 50k-100k MAU, review Supabase compute and read-replica need; at 250k+ MAU, negotiate support/SLO path.</a:t>
            </a:r>
          </a:p>
        </p:txBody>
      </p:sp>
      <p:sp>
        <p:nvSpPr>
          <p:cNvPr id="15" name="bullet-dot">
            <a:extLst xmlns:a="http://schemas.openxmlformats.org/drawingml/2006/main">
              <a:ext uri="{FF2B5EF4-FFF2-40B4-BE49-F238E27FC236}">
                <a16:creationId xmlns:a16="http://schemas.microsoft.com/office/drawing/2014/main" id="{3E8A0036-DB94-42D2-B596-CD674251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B4D"/>
          </a:solidFill>
          <a:ln xmlns:a="http://schemas.openxmlformats.org/drawingml/2006/main" w="0">
            <a:solidFill>
              <a:srgbClr val="FF5B4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EAF146-A34A-4D9A-998B-882B03C2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67175"/>
            <a:ext cx="982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Keep provider adapters thin: email, FX, analytics, push, media processing. Supabase remains the deliberate deep dependency.</a:t>
            </a:r>
          </a:p>
        </p:txBody>
      </p:sp>
    </p:spTree>
    <p:extLst>
      <p:ext uri="{BB962C8B-B14F-4D97-AF65-F5344CB8AC3E}">
        <p14:creationId xmlns:p14="http://schemas.microsoft.com/office/powerpoint/2010/main" val="18615864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rand-rail">
            <a:extLst xmlns:a="http://schemas.openxmlformats.org/drawingml/2006/main">
              <a:ext uri="{FF2B5EF4-FFF2-40B4-BE49-F238E27FC236}">
                <a16:creationId xmlns:a16="http://schemas.microsoft.com/office/drawing/2014/main" id="{528406F8-FDDB-4800-9C33-4E3F5785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7E66A-50BE-43C5-A58A-8054F6B8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Sources and assumptions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786C1D-287C-4606-B56C-CAE1886A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D737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D7377"/>
                </a:solidFill>
                <a:latin typeface="Aptos"/>
                <a:ea typeface="Aptos"/>
                <a:cs typeface="Aptos"/>
              </a:rPr>
              <a:t>Numbers are directional and should be refreshed before investor or budget decisions.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9D2D89-9DC7-4472-ADFA-89627393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62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1718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17181"/>
                </a:solidFill>
                <a:latin typeface="Aptos"/>
                <a:ea typeface="Aptos"/>
                <a:cs typeface="Aptos"/>
              </a:rPr>
              <a:t>Vamo dependency + scale map</a:t>
            </a:r>
          </a:p>
        </p:txBody>
      </p:sp>
      <p:sp>
        <p:nvSpPr>
          <p:cNvPr id="5" name="bullet-dot">
            <a:extLst xmlns:a="http://schemas.openxmlformats.org/drawingml/2006/main">
              <a:ext uri="{FF2B5EF4-FFF2-40B4-BE49-F238E27FC236}">
                <a16:creationId xmlns:a16="http://schemas.microsoft.com/office/drawing/2014/main" id="{9C25252F-76D3-4F14-9354-79115DF8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049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912438-6E00-4597-B55C-6AEBF66B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28750"/>
            <a:ext cx="9829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Repo: docs/DEPENDENCIES.md, docs/LAUNCH_GATES.md, docs/DR_RUNBOOK.md, docs/OBSERVABILITY.md.</a:t>
            </a:r>
          </a:p>
        </p:txBody>
      </p:sp>
      <p:sp>
        <p:nvSpPr>
          <p:cNvPr id="7" name="bullet-dot">
            <a:extLst xmlns:a="http://schemas.openxmlformats.org/drawingml/2006/main">
              <a:ext uri="{FF2B5EF4-FFF2-40B4-BE49-F238E27FC236}">
                <a16:creationId xmlns:a16="http://schemas.microsoft.com/office/drawing/2014/main" id="{DFDFBC87-E16D-409E-AA0E-BDD45300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145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D4005B-84B5-488C-9377-363D350B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38325"/>
            <a:ext cx="9829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Business inputs: Vamo_Business_Plan.docx and Vamo_Financial_Model.xlsx.</a:t>
            </a:r>
          </a:p>
        </p:txBody>
      </p:sp>
      <p:sp>
        <p:nvSpPr>
          <p:cNvPr id="9" name="bullet-dot">
            <a:extLst xmlns:a="http://schemas.openxmlformats.org/drawingml/2006/main">
              <a:ext uri="{FF2B5EF4-FFF2-40B4-BE49-F238E27FC236}">
                <a16:creationId xmlns:a16="http://schemas.microsoft.com/office/drawing/2014/main" id="{C17960CA-8522-4D5F-8834-5F7672BD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208CFB-3EA3-4D1C-9179-A84BA745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9829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Supabase pricing: Pro $25/mo, 100k MAU included, 100 GB storage, 250 GB egress, compute tiers; read replicas and PITR docs.</a:t>
            </a:r>
          </a:p>
        </p:txBody>
      </p:sp>
      <p:sp>
        <p:nvSpPr>
          <p:cNvPr id="11" name="bullet-dot">
            <a:extLst xmlns:a="http://schemas.openxmlformats.org/drawingml/2006/main">
              <a:ext uri="{FF2B5EF4-FFF2-40B4-BE49-F238E27FC236}">
                <a16:creationId xmlns:a16="http://schemas.microsoft.com/office/drawing/2014/main" id="{D6D0347A-0A01-453E-A699-D1D9413B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336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8696D2-8311-4E0D-B46F-0A9EC07F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57475"/>
            <a:ext cx="9829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Repo code: CaptureStorage video cap and StoragePaths for captures, videos, receipts, backgrounds, and avatars.</a:t>
            </a:r>
          </a:p>
        </p:txBody>
      </p:sp>
      <p:sp>
        <p:nvSpPr>
          <p:cNvPr id="13" name="bullet-dot">
            <a:extLst xmlns:a="http://schemas.openxmlformats.org/drawingml/2006/main">
              <a:ext uri="{FF2B5EF4-FFF2-40B4-BE49-F238E27FC236}">
                <a16:creationId xmlns:a16="http://schemas.microsoft.com/office/drawing/2014/main" id="{F2DCA670-C656-4D26-A22B-8C147F002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9E7566-A155-4DF4-95DB-ADC2D538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9829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Vercel Pro docs: $20/mo, monthly credit, 1 TB Fast Data Transfer, 10M Edge Requests included.</a:t>
            </a:r>
          </a:p>
        </p:txBody>
      </p:sp>
      <p:sp>
        <p:nvSpPr>
          <p:cNvPr id="15" name="bullet-dot">
            <a:extLst xmlns:a="http://schemas.openxmlformats.org/drawingml/2006/main">
              <a:ext uri="{FF2B5EF4-FFF2-40B4-BE49-F238E27FC236}">
                <a16:creationId xmlns:a16="http://schemas.microsoft.com/office/drawing/2014/main" id="{14AD2FCB-097E-4AE0-98C4-E94A5B6F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528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B4DCFC-3CEF-4F4A-8364-3587F087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9829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Resend pricing: Free 3k emails/mo, Pro $20/mo for 50k; Brevo free: 300 emails/day.</a:t>
            </a:r>
          </a:p>
        </p:txBody>
      </p:sp>
      <p:sp>
        <p:nvSpPr>
          <p:cNvPr id="17" name="bullet-dot">
            <a:extLst xmlns:a="http://schemas.openxmlformats.org/drawingml/2006/main">
              <a:ext uri="{FF2B5EF4-FFF2-40B4-BE49-F238E27FC236}">
                <a16:creationId xmlns:a16="http://schemas.microsoft.com/office/drawing/2014/main" id="{323E328B-4FAE-4A1A-991A-94CE0939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62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044366-1CA8-4713-BF92-B6C1FA23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86200"/>
            <a:ext cx="9829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PostHog pricing: first 1M product analytics events/mo free, usage-based after.</a:t>
            </a:r>
          </a:p>
        </p:txBody>
      </p:sp>
      <p:sp>
        <p:nvSpPr>
          <p:cNvPr id="19" name="bullet-dot">
            <a:extLst xmlns:a="http://schemas.openxmlformats.org/drawingml/2006/main">
              <a:ext uri="{FF2B5EF4-FFF2-40B4-BE49-F238E27FC236}">
                <a16:creationId xmlns:a16="http://schemas.microsoft.com/office/drawing/2014/main" id="{75768E00-3DD0-47C4-9347-594EFA2F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719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D8FC02-FDF3-4592-8560-6D4B3B7C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95775"/>
            <a:ext cx="9829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Firebase Crashlytics: no cost; FCM/Firebase pricing page for Google Cloud-backed billing context.</a:t>
            </a:r>
          </a:p>
        </p:txBody>
      </p:sp>
      <p:sp>
        <p:nvSpPr>
          <p:cNvPr id="21" name="bullet-dot">
            <a:extLst xmlns:a="http://schemas.openxmlformats.org/drawingml/2006/main">
              <a:ext uri="{FF2B5EF4-FFF2-40B4-BE49-F238E27FC236}">
                <a16:creationId xmlns:a16="http://schemas.microsoft.com/office/drawing/2014/main" id="{87E44E99-0982-44AE-9B2D-F7EE5B60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7377"/>
          </a:solidFill>
          <a:ln xmlns:a="http://schemas.openxmlformats.org/drawingml/2006/main" w="0">
            <a:solidFill>
              <a:srgbClr val="0D737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083791-14ED-4D10-BB8B-7CB27999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05350"/>
            <a:ext cx="9829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exchangerate.host pricing: free 100 requests/mo; paid tiers from 10k requests/mo.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4FA8EA-0B9F-475A-BE79-3EA87E57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29300"/>
            <a:ext cx="971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5B4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5B4D"/>
                </a:solidFill>
                <a:latin typeface="Aptos"/>
                <a:ea typeface="Aptos"/>
                <a:cs typeface="Aptos"/>
              </a:rPr>
              <a:t>Capacity caveat: user counts are product/model targets, not guaranteed platform limits. Real capacity depends on trip size, media volume, sync frequency, query plans, device behavior, and provider quotas.</a:t>
            </a:r>
          </a:p>
        </p:txBody>
      </p:sp>
    </p:spTree>
    <p:extLst>
      <p:ext uri="{BB962C8B-B14F-4D97-AF65-F5344CB8AC3E}">
        <p14:creationId xmlns:p14="http://schemas.microsoft.com/office/powerpoint/2010/main" val="11586523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2026-06-20T15:44:01.8080000Z</dcterms:created>
  <dcterms:modified xsi:type="dcterms:W3CDTF">2026-06-20T15:44:01.8080000Z</dcterms:modified>
</coreProperties>
</file>